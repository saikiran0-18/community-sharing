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83" r:id="rId6"/>
    <p:sldId id="284" r:id="rId7"/>
    <p:sldId id="285" r:id="rId8"/>
    <p:sldId id="265" r:id="rId9"/>
    <p:sldId id="260" r:id="rId10"/>
    <p:sldId id="266" r:id="rId11"/>
    <p:sldId id="277" r:id="rId12"/>
    <p:sldId id="267" r:id="rId13"/>
    <p:sldId id="270" r:id="rId14"/>
    <p:sldId id="269" r:id="rId15"/>
    <p:sldId id="268" r:id="rId16"/>
    <p:sldId id="261" r:id="rId17"/>
    <p:sldId id="280" r:id="rId18"/>
    <p:sldId id="286" r:id="rId19"/>
    <p:sldId id="287" r:id="rId20"/>
    <p:sldId id="288" r:id="rId21"/>
    <p:sldId id="289" r:id="rId22"/>
    <p:sldId id="290" r:id="rId23"/>
    <p:sldId id="291" r:id="rId24"/>
    <p:sldId id="292" r:id="rId25"/>
    <p:sldId id="293" r:id="rId26"/>
    <p:sldId id="294" r:id="rId27"/>
    <p:sldId id="295" r:id="rId28"/>
    <p:sldId id="296" r:id="rId29"/>
    <p:sldId id="281" r:id="rId30"/>
    <p:sldId id="272" r:id="rId31"/>
    <p:sldId id="276" r:id="rId32"/>
    <p:sldId id="273" r:id="rId3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78" autoAdjust="0"/>
    <p:restoredTop sz="94660"/>
  </p:normalViewPr>
  <p:slideViewPr>
    <p:cSldViewPr>
      <p:cViewPr varScale="1">
        <p:scale>
          <a:sx n="78" d="100"/>
          <a:sy n="78" d="100"/>
        </p:scale>
        <p:origin x="149"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E2E397F5-FEF0-4F8C-811E-CD48703B6D32}" type="datetimeFigureOut">
              <a:rPr lang="en-US" smtClean="0"/>
              <a:t>5/12/2026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116A979-AF7F-4516-8E03-BB2832AD05F3}" type="slidenum">
              <a:rPr lang="en-US" smtClean="0"/>
              <a:t>‹#›</a:t>
            </a:fld>
            <a:endParaRPr lang="en-US"/>
          </a:p>
        </p:txBody>
      </p:sp>
    </p:spTree>
    <p:extLst>
      <p:ext uri="{BB962C8B-B14F-4D97-AF65-F5344CB8AC3E}">
        <p14:creationId xmlns:p14="http://schemas.microsoft.com/office/powerpoint/2010/main" val="4183650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16A979-AF7F-4516-8E03-BB2832AD05F3}" type="slidenum">
              <a:rPr lang="en-US" smtClean="0"/>
              <a:t>10</a:t>
            </a:fld>
            <a:endParaRPr lang="en-US"/>
          </a:p>
        </p:txBody>
      </p:sp>
    </p:spTree>
    <p:extLst>
      <p:ext uri="{BB962C8B-B14F-4D97-AF65-F5344CB8AC3E}">
        <p14:creationId xmlns:p14="http://schemas.microsoft.com/office/powerpoint/2010/main" val="1807763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rgbClr val="002060"/>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002060"/>
                </a:solidFill>
                <a:latin typeface="Cambria"/>
                <a:cs typeface="Cambria"/>
              </a:defRPr>
            </a:lvl1p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6" name="Holder 6"/>
          <p:cNvSpPr>
            <a:spLocks noGrp="1"/>
          </p:cNvSpPr>
          <p:nvPr>
            <p:ph type="sldNum" sz="quarter" idx="7"/>
          </p:nvPr>
        </p:nvSpPr>
        <p:spPr/>
        <p:txBody>
          <a:bodyPr lIns="0" tIns="0" rIns="0" bIns="0"/>
          <a:lstStyle>
            <a:lvl1pPr>
              <a:defRPr sz="1400" b="1" i="0">
                <a:solidFill>
                  <a:srgbClr val="002060"/>
                </a:solidFill>
                <a:latin typeface="Cambria"/>
                <a:cs typeface="Cambria"/>
              </a:defRPr>
            </a:lvl1pPr>
          </a:lstStyle>
          <a:p>
            <a:pPr marL="154940">
              <a:lnSpc>
                <a:spcPct val="100000"/>
              </a:lnSpc>
              <a:spcBef>
                <a:spcPts val="15"/>
              </a:spcBef>
            </a:pPr>
            <a:fld id="{81D60167-4931-47E6-BA6A-407CBD079E47}" type="slidenum">
              <a:rPr spc="45" dirty="0"/>
              <a:t>‹#›</a:t>
            </a:fld>
            <a:endParaRPr spc="4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2060"/>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002060"/>
                </a:solidFill>
                <a:latin typeface="Cambria"/>
                <a:cs typeface="Cambria"/>
              </a:defRPr>
            </a:lvl1p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6" name="Holder 6"/>
          <p:cNvSpPr>
            <a:spLocks noGrp="1"/>
          </p:cNvSpPr>
          <p:nvPr>
            <p:ph type="sldNum" sz="quarter" idx="7"/>
          </p:nvPr>
        </p:nvSpPr>
        <p:spPr/>
        <p:txBody>
          <a:bodyPr lIns="0" tIns="0" rIns="0" bIns="0"/>
          <a:lstStyle>
            <a:lvl1pPr>
              <a:defRPr sz="1400" b="1" i="0">
                <a:solidFill>
                  <a:srgbClr val="002060"/>
                </a:solidFill>
                <a:latin typeface="Cambria"/>
                <a:cs typeface="Cambria"/>
              </a:defRPr>
            </a:lvl1pPr>
          </a:lstStyle>
          <a:p>
            <a:pPr marL="154940">
              <a:lnSpc>
                <a:spcPct val="100000"/>
              </a:lnSpc>
              <a:spcBef>
                <a:spcPts val="15"/>
              </a:spcBef>
            </a:pPr>
            <a:fld id="{81D60167-4931-47E6-BA6A-407CBD079E47}" type="slidenum">
              <a:rPr spc="45" dirty="0"/>
              <a:t>‹#›</a:t>
            </a:fld>
            <a:endParaRPr spc="4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2060"/>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1" i="0">
                <a:solidFill>
                  <a:srgbClr val="002060"/>
                </a:solidFill>
                <a:latin typeface="Cambria"/>
                <a:cs typeface="Cambria"/>
              </a:defRPr>
            </a:lvl1p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7" name="Holder 7"/>
          <p:cNvSpPr>
            <a:spLocks noGrp="1"/>
          </p:cNvSpPr>
          <p:nvPr>
            <p:ph type="sldNum" sz="quarter" idx="7"/>
          </p:nvPr>
        </p:nvSpPr>
        <p:spPr/>
        <p:txBody>
          <a:bodyPr lIns="0" tIns="0" rIns="0" bIns="0"/>
          <a:lstStyle>
            <a:lvl1pPr>
              <a:defRPr sz="1400" b="1" i="0">
                <a:solidFill>
                  <a:srgbClr val="002060"/>
                </a:solidFill>
                <a:latin typeface="Cambria"/>
                <a:cs typeface="Cambria"/>
              </a:defRPr>
            </a:lvl1pPr>
          </a:lstStyle>
          <a:p>
            <a:pPr marL="154940">
              <a:lnSpc>
                <a:spcPct val="100000"/>
              </a:lnSpc>
              <a:spcBef>
                <a:spcPts val="15"/>
              </a:spcBef>
            </a:pPr>
            <a:fld id="{81D60167-4931-47E6-BA6A-407CBD079E47}" type="slidenum">
              <a:rPr spc="45" dirty="0"/>
              <a:t>‹#›</a:t>
            </a:fld>
            <a:endParaRPr spc="4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2060"/>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defRPr sz="1400" b="1" i="0">
                <a:solidFill>
                  <a:srgbClr val="002060"/>
                </a:solidFill>
                <a:latin typeface="Cambria"/>
                <a:cs typeface="Cambria"/>
              </a:defRPr>
            </a:lvl1p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5" name="Holder 5"/>
          <p:cNvSpPr>
            <a:spLocks noGrp="1"/>
          </p:cNvSpPr>
          <p:nvPr>
            <p:ph type="sldNum" sz="quarter" idx="7"/>
          </p:nvPr>
        </p:nvSpPr>
        <p:spPr/>
        <p:txBody>
          <a:bodyPr lIns="0" tIns="0" rIns="0" bIns="0"/>
          <a:lstStyle>
            <a:lvl1pPr>
              <a:defRPr sz="1400" b="1" i="0">
                <a:solidFill>
                  <a:srgbClr val="002060"/>
                </a:solidFill>
                <a:latin typeface="Cambria"/>
                <a:cs typeface="Cambria"/>
              </a:defRPr>
            </a:lvl1pPr>
          </a:lstStyle>
          <a:p>
            <a:pPr marL="154940">
              <a:lnSpc>
                <a:spcPct val="100000"/>
              </a:lnSpc>
              <a:spcBef>
                <a:spcPts val="15"/>
              </a:spcBef>
            </a:pPr>
            <a:fld id="{81D60167-4931-47E6-BA6A-407CBD079E47}" type="slidenum">
              <a:rPr spc="45" dirty="0"/>
              <a:t>‹#›</a:t>
            </a:fld>
            <a:endParaRPr spc="4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rgbClr val="002060"/>
                </a:solidFill>
                <a:latin typeface="Cambria"/>
                <a:cs typeface="Cambria"/>
              </a:defRPr>
            </a:lvl1p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4" name="Holder 4"/>
          <p:cNvSpPr>
            <a:spLocks noGrp="1"/>
          </p:cNvSpPr>
          <p:nvPr>
            <p:ph type="sldNum" sz="quarter" idx="7"/>
          </p:nvPr>
        </p:nvSpPr>
        <p:spPr/>
        <p:txBody>
          <a:bodyPr lIns="0" tIns="0" rIns="0" bIns="0"/>
          <a:lstStyle>
            <a:lvl1pPr>
              <a:defRPr sz="1400" b="1" i="0">
                <a:solidFill>
                  <a:srgbClr val="002060"/>
                </a:solidFill>
                <a:latin typeface="Cambria"/>
                <a:cs typeface="Cambria"/>
              </a:defRPr>
            </a:lvl1pPr>
          </a:lstStyle>
          <a:p>
            <a:pPr marL="154940">
              <a:lnSpc>
                <a:spcPct val="100000"/>
              </a:lnSpc>
              <a:spcBef>
                <a:spcPts val="15"/>
              </a:spcBef>
            </a:pPr>
            <a:fld id="{81D60167-4931-47E6-BA6A-407CBD079E47}" type="slidenum">
              <a:rPr spc="45" dirty="0"/>
              <a:t>‹#›</a:t>
            </a:fld>
            <a:endParaRPr spc="4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248900" y="6302375"/>
            <a:ext cx="1481455" cy="0"/>
          </a:xfrm>
          <a:custGeom>
            <a:avLst/>
            <a:gdLst/>
            <a:ahLst/>
            <a:cxnLst/>
            <a:rect l="l" t="t" r="r" b="b"/>
            <a:pathLst>
              <a:path w="1481454">
                <a:moveTo>
                  <a:pt x="0" y="0"/>
                </a:moveTo>
                <a:lnTo>
                  <a:pt x="1481138" y="0"/>
                </a:lnTo>
              </a:path>
            </a:pathLst>
          </a:custGeom>
          <a:ln w="28574">
            <a:solidFill>
              <a:srgbClr val="A4238F"/>
            </a:solidFill>
          </a:ln>
        </p:spPr>
        <p:txBody>
          <a:bodyPr wrap="square" lIns="0" tIns="0" rIns="0" bIns="0" rtlCol="0"/>
          <a:lstStyle/>
          <a:p>
            <a:endParaRPr/>
          </a:p>
        </p:txBody>
      </p:sp>
      <p:sp>
        <p:nvSpPr>
          <p:cNvPr id="17" name="bg object 17"/>
          <p:cNvSpPr/>
          <p:nvPr/>
        </p:nvSpPr>
        <p:spPr>
          <a:xfrm>
            <a:off x="8696325" y="6302375"/>
            <a:ext cx="1539875" cy="0"/>
          </a:xfrm>
          <a:custGeom>
            <a:avLst/>
            <a:gdLst/>
            <a:ahLst/>
            <a:cxnLst/>
            <a:rect l="l" t="t" r="r" b="b"/>
            <a:pathLst>
              <a:path w="1539875">
                <a:moveTo>
                  <a:pt x="0" y="0"/>
                </a:moveTo>
                <a:lnTo>
                  <a:pt x="1539874" y="0"/>
                </a:lnTo>
              </a:path>
            </a:pathLst>
          </a:custGeom>
          <a:ln w="28574">
            <a:solidFill>
              <a:srgbClr val="A7CE38"/>
            </a:solidFill>
          </a:ln>
        </p:spPr>
        <p:txBody>
          <a:bodyPr wrap="square" lIns="0" tIns="0" rIns="0" bIns="0" rtlCol="0"/>
          <a:lstStyle/>
          <a:p>
            <a:endParaRPr/>
          </a:p>
        </p:txBody>
      </p:sp>
      <p:sp>
        <p:nvSpPr>
          <p:cNvPr id="18" name="bg object 18"/>
          <p:cNvSpPr/>
          <p:nvPr/>
        </p:nvSpPr>
        <p:spPr>
          <a:xfrm>
            <a:off x="7240588" y="6302375"/>
            <a:ext cx="1538605" cy="0"/>
          </a:xfrm>
          <a:custGeom>
            <a:avLst/>
            <a:gdLst/>
            <a:ahLst/>
            <a:cxnLst/>
            <a:rect l="l" t="t" r="r" b="b"/>
            <a:pathLst>
              <a:path w="1538604">
                <a:moveTo>
                  <a:pt x="0" y="0"/>
                </a:moveTo>
                <a:lnTo>
                  <a:pt x="1538287" y="0"/>
                </a:lnTo>
              </a:path>
            </a:pathLst>
          </a:custGeom>
          <a:ln w="28574">
            <a:solidFill>
              <a:srgbClr val="F48221"/>
            </a:solidFill>
          </a:ln>
        </p:spPr>
        <p:txBody>
          <a:bodyPr wrap="square" lIns="0" tIns="0" rIns="0" bIns="0" rtlCol="0"/>
          <a:lstStyle/>
          <a:p>
            <a:endParaRPr/>
          </a:p>
        </p:txBody>
      </p:sp>
      <p:sp>
        <p:nvSpPr>
          <p:cNvPr id="19" name="bg object 19"/>
          <p:cNvSpPr/>
          <p:nvPr/>
        </p:nvSpPr>
        <p:spPr>
          <a:xfrm>
            <a:off x="119062" y="895350"/>
            <a:ext cx="4351655" cy="25400"/>
          </a:xfrm>
          <a:custGeom>
            <a:avLst/>
            <a:gdLst/>
            <a:ahLst/>
            <a:cxnLst/>
            <a:rect l="l" t="t" r="r" b="b"/>
            <a:pathLst>
              <a:path w="4351655" h="25400">
                <a:moveTo>
                  <a:pt x="0" y="25399"/>
                </a:moveTo>
                <a:lnTo>
                  <a:pt x="4351336" y="0"/>
                </a:lnTo>
              </a:path>
            </a:pathLst>
          </a:custGeom>
          <a:ln w="57149">
            <a:solidFill>
              <a:srgbClr val="002060"/>
            </a:solidFill>
          </a:ln>
        </p:spPr>
        <p:txBody>
          <a:bodyPr wrap="square" lIns="0" tIns="0" rIns="0" bIns="0" rtlCol="0"/>
          <a:lstStyle/>
          <a:p>
            <a:endParaRPr/>
          </a:p>
        </p:txBody>
      </p:sp>
      <p:pic>
        <p:nvPicPr>
          <p:cNvPr id="20" name="bg object 20"/>
          <p:cNvPicPr/>
          <p:nvPr/>
        </p:nvPicPr>
        <p:blipFill>
          <a:blip r:embed="rId7" cstate="print"/>
          <a:stretch>
            <a:fillRect/>
          </a:stretch>
        </p:blipFill>
        <p:spPr>
          <a:xfrm>
            <a:off x="322087" y="138113"/>
            <a:ext cx="698244" cy="565451"/>
          </a:xfrm>
          <a:prstGeom prst="rect">
            <a:avLst/>
          </a:prstGeom>
        </p:spPr>
      </p:pic>
      <p:pic>
        <p:nvPicPr>
          <p:cNvPr id="21" name="bg object 21"/>
          <p:cNvPicPr/>
          <p:nvPr/>
        </p:nvPicPr>
        <p:blipFill>
          <a:blip r:embed="rId8" cstate="print"/>
          <a:stretch>
            <a:fillRect/>
          </a:stretch>
        </p:blipFill>
        <p:spPr>
          <a:xfrm>
            <a:off x="10990263" y="138113"/>
            <a:ext cx="980829" cy="560386"/>
          </a:xfrm>
          <a:prstGeom prst="rect">
            <a:avLst/>
          </a:prstGeom>
        </p:spPr>
      </p:pic>
      <p:sp>
        <p:nvSpPr>
          <p:cNvPr id="2" name="Holder 2"/>
          <p:cNvSpPr>
            <a:spLocks noGrp="1"/>
          </p:cNvSpPr>
          <p:nvPr>
            <p:ph type="title"/>
          </p:nvPr>
        </p:nvSpPr>
        <p:spPr>
          <a:xfrm>
            <a:off x="1176337" y="-9340"/>
            <a:ext cx="9175750" cy="836294"/>
          </a:xfrm>
          <a:prstGeom prst="rect">
            <a:avLst/>
          </a:prstGeom>
        </p:spPr>
        <p:txBody>
          <a:bodyPr wrap="square" lIns="0" tIns="0" rIns="0" bIns="0">
            <a:spAutoFit/>
          </a:bodyPr>
          <a:lstStyle>
            <a:lvl1pPr>
              <a:defRPr sz="2800" b="1" i="0">
                <a:solidFill>
                  <a:srgbClr val="002060"/>
                </a:solidFill>
                <a:latin typeface="Cambria"/>
                <a:cs typeface="Cambria"/>
              </a:defRPr>
            </a:lvl1pPr>
          </a:lstStyle>
          <a:p>
            <a:endParaRPr/>
          </a:p>
        </p:txBody>
      </p:sp>
      <p:sp>
        <p:nvSpPr>
          <p:cNvPr id="3" name="Holder 3"/>
          <p:cNvSpPr>
            <a:spLocks noGrp="1"/>
          </p:cNvSpPr>
          <p:nvPr>
            <p:ph type="body" idx="1"/>
          </p:nvPr>
        </p:nvSpPr>
        <p:spPr>
          <a:xfrm>
            <a:off x="349686" y="1270654"/>
            <a:ext cx="11566525" cy="441261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473798" y="6422751"/>
            <a:ext cx="1244600" cy="234315"/>
          </a:xfrm>
          <a:prstGeom prst="rect">
            <a:avLst/>
          </a:prstGeom>
        </p:spPr>
        <p:txBody>
          <a:bodyPr wrap="square" lIns="0" tIns="0" rIns="0" bIns="0">
            <a:spAutoFit/>
          </a:bodyPr>
          <a:lstStyle>
            <a:lvl1pPr>
              <a:defRPr sz="1400" b="1" i="0">
                <a:solidFill>
                  <a:srgbClr val="002060"/>
                </a:solidFill>
                <a:latin typeface="Cambria"/>
                <a:cs typeface="Cambria"/>
              </a:defRPr>
            </a:lvl1p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6" name="Holder 6"/>
          <p:cNvSpPr>
            <a:spLocks noGrp="1"/>
          </p:cNvSpPr>
          <p:nvPr>
            <p:ph type="sldNum" sz="quarter" idx="7"/>
          </p:nvPr>
        </p:nvSpPr>
        <p:spPr>
          <a:xfrm>
            <a:off x="10995354" y="6422751"/>
            <a:ext cx="323850" cy="234315"/>
          </a:xfrm>
          <a:prstGeom prst="rect">
            <a:avLst/>
          </a:prstGeom>
        </p:spPr>
        <p:txBody>
          <a:bodyPr wrap="square" lIns="0" tIns="0" rIns="0" bIns="0">
            <a:spAutoFit/>
          </a:bodyPr>
          <a:lstStyle>
            <a:lvl1pPr>
              <a:defRPr sz="1400" b="1" i="0">
                <a:solidFill>
                  <a:srgbClr val="002060"/>
                </a:solidFill>
                <a:latin typeface="Cambria"/>
                <a:cs typeface="Cambria"/>
              </a:defRPr>
            </a:lvl1pPr>
          </a:lstStyle>
          <a:p>
            <a:pPr marL="154940">
              <a:lnSpc>
                <a:spcPct val="100000"/>
              </a:lnSpc>
              <a:spcBef>
                <a:spcPts val="15"/>
              </a:spcBef>
            </a:pPr>
            <a:fld id="{81D60167-4931-47E6-BA6A-407CBD079E47}" type="slidenum">
              <a:rPr spc="45" dirty="0"/>
              <a:t>‹#›</a:t>
            </a:fld>
            <a:endParaRPr spc="4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597633" y="88090"/>
            <a:ext cx="967925" cy="903864"/>
          </a:xfrm>
          <a:prstGeom prst="rect">
            <a:avLst/>
          </a:prstGeom>
        </p:spPr>
      </p:pic>
      <p:pic>
        <p:nvPicPr>
          <p:cNvPr id="3" name="object 3"/>
          <p:cNvPicPr/>
          <p:nvPr/>
        </p:nvPicPr>
        <p:blipFill>
          <a:blip r:embed="rId3" cstate="print"/>
          <a:stretch>
            <a:fillRect/>
          </a:stretch>
        </p:blipFill>
        <p:spPr>
          <a:xfrm>
            <a:off x="5159375" y="5467350"/>
            <a:ext cx="2216986" cy="798512"/>
          </a:xfrm>
          <a:prstGeom prst="rect">
            <a:avLst/>
          </a:prstGeom>
        </p:spPr>
      </p:pic>
      <p:sp>
        <p:nvSpPr>
          <p:cNvPr id="4" name="object 4" descr="$PPTXTitle"/>
          <p:cNvSpPr txBox="1">
            <a:spLocks noGrp="1"/>
          </p:cNvSpPr>
          <p:nvPr>
            <p:ph type="title"/>
          </p:nvPr>
        </p:nvSpPr>
        <p:spPr>
          <a:xfrm>
            <a:off x="1871787" y="1035939"/>
            <a:ext cx="8735060" cy="629285"/>
          </a:xfrm>
          <a:prstGeom prst="rect">
            <a:avLst/>
          </a:prstGeom>
        </p:spPr>
        <p:txBody>
          <a:bodyPr vert="horz" wrap="square" lIns="0" tIns="13970" rIns="0" bIns="0" rtlCol="0">
            <a:spAutoFit/>
          </a:bodyPr>
          <a:lstStyle/>
          <a:p>
            <a:pPr marL="12700">
              <a:lnSpc>
                <a:spcPct val="100000"/>
              </a:lnSpc>
              <a:spcBef>
                <a:spcPts val="110"/>
              </a:spcBef>
            </a:pPr>
            <a:r>
              <a:rPr sz="3950" dirty="0"/>
              <a:t>B</a:t>
            </a:r>
            <a:r>
              <a:rPr sz="3950" spc="-45" dirty="0"/>
              <a:t> </a:t>
            </a:r>
            <a:r>
              <a:rPr sz="3950" dirty="0"/>
              <a:t>V</a:t>
            </a:r>
            <a:r>
              <a:rPr sz="3950" spc="-30" dirty="0"/>
              <a:t> </a:t>
            </a:r>
            <a:r>
              <a:rPr sz="3950" dirty="0"/>
              <a:t>RAJU</a:t>
            </a:r>
            <a:r>
              <a:rPr sz="3950" spc="-25" dirty="0"/>
              <a:t> </a:t>
            </a:r>
            <a:r>
              <a:rPr sz="3950" dirty="0"/>
              <a:t>INSTITUTE</a:t>
            </a:r>
            <a:r>
              <a:rPr sz="3950" spc="-35" dirty="0"/>
              <a:t> </a:t>
            </a:r>
            <a:r>
              <a:rPr sz="3950" dirty="0"/>
              <a:t>OF</a:t>
            </a:r>
            <a:r>
              <a:rPr sz="3950" spc="-25" dirty="0"/>
              <a:t> </a:t>
            </a:r>
            <a:r>
              <a:rPr sz="3950" spc="-10" dirty="0"/>
              <a:t>TECHNOLOGY</a:t>
            </a:r>
            <a:endParaRPr sz="3950"/>
          </a:p>
        </p:txBody>
      </p:sp>
      <p:sp>
        <p:nvSpPr>
          <p:cNvPr id="5" name="object 5"/>
          <p:cNvSpPr txBox="1"/>
          <p:nvPr/>
        </p:nvSpPr>
        <p:spPr>
          <a:xfrm>
            <a:off x="1601378" y="1616400"/>
            <a:ext cx="7920355" cy="2109470"/>
          </a:xfrm>
          <a:prstGeom prst="rect">
            <a:avLst/>
          </a:prstGeom>
        </p:spPr>
        <p:txBody>
          <a:bodyPr vert="horz" wrap="square" lIns="0" tIns="43815" rIns="0" bIns="0" rtlCol="0">
            <a:spAutoFit/>
          </a:bodyPr>
          <a:lstStyle/>
          <a:p>
            <a:pPr marL="2735580" marR="1369695" indent="901700">
              <a:lnSpc>
                <a:spcPts val="1939"/>
              </a:lnSpc>
              <a:spcBef>
                <a:spcPts val="345"/>
              </a:spcBef>
            </a:pPr>
            <a:r>
              <a:rPr sz="1800" b="1" dirty="0">
                <a:solidFill>
                  <a:srgbClr val="002060"/>
                </a:solidFill>
                <a:latin typeface="Cambria"/>
                <a:cs typeface="Cambria"/>
              </a:rPr>
              <a:t>(UGC</a:t>
            </a:r>
            <a:r>
              <a:rPr sz="1800" b="1" spc="-65" dirty="0">
                <a:solidFill>
                  <a:srgbClr val="002060"/>
                </a:solidFill>
                <a:latin typeface="Cambria"/>
                <a:cs typeface="Cambria"/>
              </a:rPr>
              <a:t> </a:t>
            </a:r>
            <a:r>
              <a:rPr sz="1800" b="1" spc="-10" dirty="0">
                <a:solidFill>
                  <a:srgbClr val="002060"/>
                </a:solidFill>
                <a:latin typeface="Cambria"/>
                <a:cs typeface="Cambria"/>
              </a:rPr>
              <a:t>Autonomous) </a:t>
            </a:r>
            <a:r>
              <a:rPr sz="1800" b="1" spc="-20" dirty="0">
                <a:solidFill>
                  <a:srgbClr val="002060"/>
                </a:solidFill>
                <a:latin typeface="Cambria"/>
                <a:cs typeface="Cambria"/>
              </a:rPr>
              <a:t>Vishnupur,</a:t>
            </a:r>
            <a:r>
              <a:rPr sz="1800" b="1" spc="-35" dirty="0">
                <a:solidFill>
                  <a:srgbClr val="002060"/>
                </a:solidFill>
                <a:latin typeface="Cambria"/>
                <a:cs typeface="Cambria"/>
              </a:rPr>
              <a:t> </a:t>
            </a:r>
            <a:r>
              <a:rPr sz="1800" b="1" spc="-20" dirty="0">
                <a:solidFill>
                  <a:srgbClr val="002060"/>
                </a:solidFill>
                <a:latin typeface="Cambria"/>
                <a:cs typeface="Cambria"/>
              </a:rPr>
              <a:t>Narsapur,</a:t>
            </a:r>
            <a:r>
              <a:rPr sz="1800" b="1" spc="-30" dirty="0">
                <a:solidFill>
                  <a:srgbClr val="002060"/>
                </a:solidFill>
                <a:latin typeface="Cambria"/>
                <a:cs typeface="Cambria"/>
              </a:rPr>
              <a:t> </a:t>
            </a:r>
            <a:r>
              <a:rPr sz="1800" b="1" dirty="0">
                <a:solidFill>
                  <a:srgbClr val="002060"/>
                </a:solidFill>
                <a:latin typeface="Cambria"/>
                <a:cs typeface="Cambria"/>
              </a:rPr>
              <a:t>Medak</a:t>
            </a:r>
            <a:r>
              <a:rPr sz="1800" b="1" spc="-30" dirty="0">
                <a:solidFill>
                  <a:srgbClr val="002060"/>
                </a:solidFill>
                <a:latin typeface="Cambria"/>
                <a:cs typeface="Cambria"/>
              </a:rPr>
              <a:t> </a:t>
            </a:r>
            <a:r>
              <a:rPr sz="1800" b="1" spc="-10" dirty="0">
                <a:solidFill>
                  <a:srgbClr val="002060"/>
                </a:solidFill>
                <a:latin typeface="Cambria"/>
                <a:cs typeface="Cambria"/>
              </a:rPr>
              <a:t>District</a:t>
            </a:r>
            <a:endParaRPr sz="1800" dirty="0">
              <a:latin typeface="Cambria"/>
              <a:cs typeface="Cambria"/>
            </a:endParaRPr>
          </a:p>
          <a:p>
            <a:pPr marL="920115" algn="ctr">
              <a:lnSpc>
                <a:spcPct val="100000"/>
              </a:lnSpc>
              <a:spcBef>
                <a:spcPts val="320"/>
              </a:spcBef>
            </a:pPr>
            <a:r>
              <a:rPr sz="2400" b="1" spc="-10" dirty="0">
                <a:solidFill>
                  <a:srgbClr val="C55A11"/>
                </a:solidFill>
                <a:latin typeface="Cambria"/>
                <a:cs typeface="Cambria"/>
              </a:rPr>
              <a:t>Department</a:t>
            </a:r>
            <a:r>
              <a:rPr sz="2400" b="1" spc="-65" dirty="0">
                <a:solidFill>
                  <a:srgbClr val="C55A11"/>
                </a:solidFill>
                <a:latin typeface="Cambria"/>
                <a:cs typeface="Cambria"/>
              </a:rPr>
              <a:t> </a:t>
            </a:r>
            <a:r>
              <a:rPr sz="2400" b="1" dirty="0">
                <a:solidFill>
                  <a:srgbClr val="C55A11"/>
                </a:solidFill>
                <a:latin typeface="Cambria"/>
                <a:cs typeface="Cambria"/>
              </a:rPr>
              <a:t>of</a:t>
            </a:r>
            <a:r>
              <a:rPr sz="2400" b="1" spc="-65" dirty="0">
                <a:solidFill>
                  <a:srgbClr val="C55A11"/>
                </a:solidFill>
                <a:latin typeface="Cambria"/>
                <a:cs typeface="Cambria"/>
              </a:rPr>
              <a:t> </a:t>
            </a:r>
            <a:r>
              <a:rPr sz="2400" b="1" spc="-10" dirty="0">
                <a:solidFill>
                  <a:srgbClr val="C55A11"/>
                </a:solidFill>
                <a:latin typeface="Cambria"/>
                <a:cs typeface="Cambria"/>
              </a:rPr>
              <a:t>Computer</a:t>
            </a:r>
            <a:r>
              <a:rPr sz="2400" b="1" spc="-65" dirty="0">
                <a:solidFill>
                  <a:srgbClr val="C55A11"/>
                </a:solidFill>
                <a:latin typeface="Cambria"/>
                <a:cs typeface="Cambria"/>
              </a:rPr>
              <a:t> </a:t>
            </a:r>
            <a:r>
              <a:rPr sz="2400" b="1" dirty="0">
                <a:solidFill>
                  <a:srgbClr val="C55A11"/>
                </a:solidFill>
                <a:latin typeface="Cambria"/>
                <a:cs typeface="Cambria"/>
              </a:rPr>
              <a:t>Science</a:t>
            </a:r>
            <a:r>
              <a:rPr sz="2400" b="1" spc="-65" dirty="0">
                <a:solidFill>
                  <a:srgbClr val="C55A11"/>
                </a:solidFill>
                <a:latin typeface="Cambria"/>
                <a:cs typeface="Cambria"/>
              </a:rPr>
              <a:t> </a:t>
            </a:r>
            <a:r>
              <a:rPr sz="2400" b="1" dirty="0">
                <a:solidFill>
                  <a:srgbClr val="C55A11"/>
                </a:solidFill>
                <a:latin typeface="Cambria"/>
                <a:cs typeface="Cambria"/>
              </a:rPr>
              <a:t>and</a:t>
            </a:r>
            <a:r>
              <a:rPr sz="2400" b="1" spc="-65" dirty="0">
                <a:solidFill>
                  <a:srgbClr val="C55A11"/>
                </a:solidFill>
                <a:latin typeface="Cambria"/>
                <a:cs typeface="Cambria"/>
              </a:rPr>
              <a:t> </a:t>
            </a:r>
            <a:r>
              <a:rPr sz="2400" b="1" spc="-10" dirty="0">
                <a:solidFill>
                  <a:srgbClr val="C55A11"/>
                </a:solidFill>
                <a:latin typeface="Cambria"/>
                <a:cs typeface="Cambria"/>
              </a:rPr>
              <a:t>Engineering</a:t>
            </a:r>
            <a:endParaRPr sz="2400" dirty="0">
              <a:latin typeface="Cambria"/>
              <a:cs typeface="Cambria"/>
            </a:endParaRPr>
          </a:p>
          <a:p>
            <a:pPr marL="919480" algn="ctr">
              <a:lnSpc>
                <a:spcPct val="100000"/>
              </a:lnSpc>
              <a:spcBef>
                <a:spcPts val="710"/>
              </a:spcBef>
            </a:pPr>
            <a:r>
              <a:rPr sz="2400" b="1" dirty="0">
                <a:solidFill>
                  <a:srgbClr val="C55A11"/>
                </a:solidFill>
                <a:latin typeface="Cambria"/>
                <a:cs typeface="Cambria"/>
              </a:rPr>
              <a:t>Minor</a:t>
            </a:r>
            <a:r>
              <a:rPr sz="2400" b="1" spc="-55" dirty="0">
                <a:solidFill>
                  <a:srgbClr val="C55A11"/>
                </a:solidFill>
                <a:latin typeface="Cambria"/>
                <a:cs typeface="Cambria"/>
              </a:rPr>
              <a:t> </a:t>
            </a:r>
            <a:r>
              <a:rPr sz="2400" b="1" dirty="0">
                <a:solidFill>
                  <a:srgbClr val="C55A11"/>
                </a:solidFill>
                <a:latin typeface="Cambria"/>
                <a:cs typeface="Cambria"/>
              </a:rPr>
              <a:t>Project</a:t>
            </a:r>
            <a:r>
              <a:rPr sz="2400" b="1" spc="-55" dirty="0">
                <a:solidFill>
                  <a:srgbClr val="C55A11"/>
                </a:solidFill>
                <a:latin typeface="Cambria"/>
                <a:cs typeface="Cambria"/>
              </a:rPr>
              <a:t> </a:t>
            </a:r>
            <a:r>
              <a:rPr sz="2400" b="1" dirty="0">
                <a:solidFill>
                  <a:srgbClr val="C55A11"/>
                </a:solidFill>
                <a:latin typeface="Cambria"/>
                <a:cs typeface="Cambria"/>
              </a:rPr>
              <a:t>–</a:t>
            </a:r>
            <a:r>
              <a:rPr sz="2400" b="1" spc="-55" dirty="0">
                <a:solidFill>
                  <a:srgbClr val="C55A11"/>
                </a:solidFill>
                <a:latin typeface="Cambria"/>
                <a:cs typeface="Cambria"/>
              </a:rPr>
              <a:t> </a:t>
            </a:r>
            <a:r>
              <a:rPr sz="2400" b="1" dirty="0">
                <a:solidFill>
                  <a:srgbClr val="C55A11"/>
                </a:solidFill>
                <a:latin typeface="Cambria"/>
                <a:cs typeface="Cambria"/>
              </a:rPr>
              <a:t>Fi</a:t>
            </a:r>
            <a:r>
              <a:rPr lang="en-GB" sz="2400" b="1" dirty="0" err="1">
                <a:solidFill>
                  <a:srgbClr val="C55A11"/>
                </a:solidFill>
                <a:latin typeface="Cambria"/>
                <a:cs typeface="Cambria"/>
              </a:rPr>
              <a:t>nal</a:t>
            </a:r>
            <a:r>
              <a:rPr sz="2400" b="1" spc="-50" dirty="0">
                <a:solidFill>
                  <a:srgbClr val="C55A11"/>
                </a:solidFill>
                <a:latin typeface="Cambria"/>
                <a:cs typeface="Cambria"/>
              </a:rPr>
              <a:t> </a:t>
            </a:r>
            <a:r>
              <a:rPr sz="2400" b="1" spc="-10" dirty="0">
                <a:solidFill>
                  <a:srgbClr val="C55A11"/>
                </a:solidFill>
                <a:latin typeface="Cambria"/>
                <a:cs typeface="Cambria"/>
              </a:rPr>
              <a:t>Review</a:t>
            </a:r>
            <a:r>
              <a:rPr sz="2400" b="1" spc="-55" dirty="0">
                <a:solidFill>
                  <a:srgbClr val="C55A11"/>
                </a:solidFill>
                <a:latin typeface="Cambria"/>
                <a:cs typeface="Cambria"/>
              </a:rPr>
              <a:t> </a:t>
            </a:r>
            <a:endParaRPr sz="2400" dirty="0">
              <a:latin typeface="Cambria"/>
              <a:cs typeface="Cambria"/>
            </a:endParaRPr>
          </a:p>
          <a:p>
            <a:pPr>
              <a:lnSpc>
                <a:spcPct val="100000"/>
              </a:lnSpc>
              <a:spcBef>
                <a:spcPts val="515"/>
              </a:spcBef>
            </a:pPr>
            <a:endParaRPr sz="2400" dirty="0">
              <a:latin typeface="Cambria"/>
              <a:cs typeface="Cambria"/>
            </a:endParaRPr>
          </a:p>
          <a:p>
            <a:pPr marL="12700">
              <a:lnSpc>
                <a:spcPct val="100000"/>
              </a:lnSpc>
            </a:pPr>
            <a:endParaRPr sz="1800" dirty="0">
              <a:latin typeface="Cambria"/>
              <a:cs typeface="Cambria"/>
            </a:endParaRPr>
          </a:p>
        </p:txBody>
      </p:sp>
      <p:sp>
        <p:nvSpPr>
          <p:cNvPr id="6" name="object 6"/>
          <p:cNvSpPr txBox="1"/>
          <p:nvPr/>
        </p:nvSpPr>
        <p:spPr>
          <a:xfrm>
            <a:off x="436944" y="4663085"/>
            <a:ext cx="990599" cy="320601"/>
          </a:xfrm>
          <a:prstGeom prst="rect">
            <a:avLst/>
          </a:prstGeom>
        </p:spPr>
        <p:txBody>
          <a:bodyPr vert="horz" wrap="square" lIns="0" tIns="12700" rIns="0" bIns="0" rtlCol="0">
            <a:spAutoFit/>
          </a:bodyPr>
          <a:lstStyle/>
          <a:p>
            <a:pPr marL="12700">
              <a:lnSpc>
                <a:spcPct val="100000"/>
              </a:lnSpc>
              <a:spcBef>
                <a:spcPts val="100"/>
              </a:spcBef>
            </a:pPr>
            <a:r>
              <a:rPr sz="2000" b="1" spc="95" dirty="0">
                <a:latin typeface="Cambria"/>
                <a:cs typeface="Cambria"/>
              </a:rPr>
              <a:t>By</a:t>
            </a:r>
            <a:r>
              <a:rPr lang="en-US" sz="2000" b="1" spc="95" dirty="0">
                <a:latin typeface="Cambria"/>
                <a:cs typeface="Cambria"/>
              </a:rPr>
              <a:t>:</a:t>
            </a:r>
            <a:endParaRPr sz="1800" dirty="0">
              <a:latin typeface="Cambria"/>
              <a:cs typeface="Cambria"/>
            </a:endParaRPr>
          </a:p>
        </p:txBody>
      </p:sp>
      <p:sp>
        <p:nvSpPr>
          <p:cNvPr id="7" name="object 7"/>
          <p:cNvSpPr txBox="1"/>
          <p:nvPr/>
        </p:nvSpPr>
        <p:spPr>
          <a:xfrm>
            <a:off x="457200" y="5070855"/>
            <a:ext cx="4038600" cy="1146468"/>
          </a:xfrm>
          <a:prstGeom prst="rect">
            <a:avLst/>
          </a:prstGeom>
        </p:spPr>
        <p:txBody>
          <a:bodyPr vert="horz" wrap="square" lIns="0" tIns="12700" rIns="0" bIns="0" rtlCol="0">
            <a:spAutoFit/>
          </a:bodyPr>
          <a:lstStyle/>
          <a:p>
            <a:pPr marL="12700" marR="5080">
              <a:lnSpc>
                <a:spcPct val="100000"/>
              </a:lnSpc>
              <a:spcBef>
                <a:spcPts val="100"/>
              </a:spcBef>
              <a:tabLst>
                <a:tab pos="1861820" algn="l"/>
                <a:tab pos="1884045" algn="l"/>
              </a:tabLst>
            </a:pPr>
            <a:r>
              <a:rPr lang="en-US" sz="1800" dirty="0">
                <a:latin typeface="Cambria" panose="02040503050406030204" pitchFamily="18" charset="0"/>
                <a:ea typeface="Cambria" panose="02040503050406030204" pitchFamily="18" charset="0"/>
                <a:cs typeface="Calibri"/>
              </a:rPr>
              <a:t>24211A0584</a:t>
            </a:r>
            <a:r>
              <a:rPr lang="en-US" sz="1800" spc="-90" dirty="0">
                <a:latin typeface="Cambria" panose="02040503050406030204" pitchFamily="18" charset="0"/>
                <a:ea typeface="Cambria" panose="02040503050406030204" pitchFamily="18" charset="0"/>
                <a:cs typeface="Calibri"/>
              </a:rPr>
              <a:t> </a:t>
            </a:r>
            <a:r>
              <a:rPr lang="en-US" sz="1800" spc="-50" dirty="0">
                <a:latin typeface="Cambria" panose="02040503050406030204" pitchFamily="18" charset="0"/>
                <a:ea typeface="Cambria" panose="02040503050406030204" pitchFamily="18" charset="0"/>
                <a:cs typeface="Calibri"/>
              </a:rPr>
              <a:t>:  </a:t>
            </a:r>
            <a:r>
              <a:rPr lang="en-US" sz="1800" dirty="0">
                <a:latin typeface="Cambria" panose="02040503050406030204" pitchFamily="18" charset="0"/>
                <a:ea typeface="Cambria" panose="02040503050406030204" pitchFamily="18" charset="0"/>
                <a:cs typeface="Calibri"/>
              </a:rPr>
              <a:t>B.</a:t>
            </a:r>
            <a:r>
              <a:rPr lang="en-US" sz="1800" spc="-15" dirty="0">
                <a:latin typeface="Cambria" panose="02040503050406030204" pitchFamily="18" charset="0"/>
                <a:ea typeface="Cambria" panose="02040503050406030204" pitchFamily="18" charset="0"/>
                <a:cs typeface="Calibri"/>
              </a:rPr>
              <a:t> </a:t>
            </a:r>
            <a:r>
              <a:rPr lang="en-US" sz="1800" spc="-10" dirty="0">
                <a:latin typeface="Cambria" panose="02040503050406030204" pitchFamily="18" charset="0"/>
                <a:ea typeface="Cambria" panose="02040503050406030204" pitchFamily="18" charset="0"/>
                <a:cs typeface="Calibri"/>
              </a:rPr>
              <a:t>Saikiran</a:t>
            </a:r>
          </a:p>
          <a:p>
            <a:pPr marL="12700" marR="5080">
              <a:lnSpc>
                <a:spcPct val="100000"/>
              </a:lnSpc>
              <a:spcBef>
                <a:spcPts val="100"/>
              </a:spcBef>
              <a:tabLst>
                <a:tab pos="1861820" algn="l"/>
                <a:tab pos="1884045" algn="l"/>
              </a:tabLst>
            </a:pPr>
            <a:r>
              <a:rPr lang="en-US" sz="1800" dirty="0">
                <a:latin typeface="Cambria" panose="02040503050406030204" pitchFamily="18" charset="0"/>
                <a:ea typeface="Cambria" panose="02040503050406030204" pitchFamily="18" charset="0"/>
                <a:cs typeface="Calibri"/>
              </a:rPr>
              <a:t>24211A0586</a:t>
            </a:r>
            <a:r>
              <a:rPr lang="en-US" sz="1800" spc="-50" dirty="0">
                <a:latin typeface="Cambria" panose="02040503050406030204" pitchFamily="18" charset="0"/>
                <a:ea typeface="Cambria" panose="02040503050406030204" pitchFamily="18" charset="0"/>
                <a:cs typeface="Calibri"/>
              </a:rPr>
              <a:t>:  </a:t>
            </a:r>
            <a:r>
              <a:rPr lang="en-US" sz="1800" dirty="0">
                <a:latin typeface="Cambria" panose="02040503050406030204" pitchFamily="18" charset="0"/>
                <a:ea typeface="Cambria" panose="02040503050406030204" pitchFamily="18" charset="0"/>
                <a:cs typeface="Calibri"/>
              </a:rPr>
              <a:t>Ch.</a:t>
            </a:r>
            <a:r>
              <a:rPr lang="en-US" sz="1800" spc="-35" dirty="0">
                <a:latin typeface="Cambria" panose="02040503050406030204" pitchFamily="18" charset="0"/>
                <a:ea typeface="Cambria" panose="02040503050406030204" pitchFamily="18" charset="0"/>
                <a:cs typeface="Calibri"/>
              </a:rPr>
              <a:t> </a:t>
            </a:r>
            <a:r>
              <a:rPr lang="en-US" sz="1800" dirty="0">
                <a:latin typeface="Cambria" panose="02040503050406030204" pitchFamily="18" charset="0"/>
                <a:ea typeface="Cambria" panose="02040503050406030204" pitchFamily="18" charset="0"/>
                <a:cs typeface="Calibri"/>
              </a:rPr>
              <a:t>Pranay </a:t>
            </a:r>
            <a:r>
              <a:rPr lang="en-US" sz="1800" spc="-10" dirty="0" err="1">
                <a:latin typeface="Cambria" panose="02040503050406030204" pitchFamily="18" charset="0"/>
                <a:ea typeface="Cambria" panose="02040503050406030204" pitchFamily="18" charset="0"/>
                <a:cs typeface="Calibri"/>
              </a:rPr>
              <a:t>kumar</a:t>
            </a:r>
            <a:r>
              <a:rPr lang="en-US" sz="1800" spc="-10" dirty="0">
                <a:latin typeface="Cambria" panose="02040503050406030204" pitchFamily="18" charset="0"/>
                <a:ea typeface="Cambria" panose="02040503050406030204" pitchFamily="18" charset="0"/>
                <a:cs typeface="Calibri"/>
              </a:rPr>
              <a:t> </a:t>
            </a:r>
          </a:p>
          <a:p>
            <a:pPr marL="12700" marR="5080">
              <a:lnSpc>
                <a:spcPct val="100000"/>
              </a:lnSpc>
              <a:spcBef>
                <a:spcPts val="100"/>
              </a:spcBef>
              <a:tabLst>
                <a:tab pos="1861820" algn="l"/>
                <a:tab pos="1884045" algn="l"/>
              </a:tabLst>
            </a:pPr>
            <a:r>
              <a:rPr lang="en-US" sz="1800" dirty="0">
                <a:latin typeface="Cambria" panose="02040503050406030204" pitchFamily="18" charset="0"/>
                <a:ea typeface="Cambria" panose="02040503050406030204" pitchFamily="18" charset="0"/>
                <a:cs typeface="Calibri"/>
              </a:rPr>
              <a:t>24211A05B0</a:t>
            </a:r>
            <a:r>
              <a:rPr lang="en-US" sz="1800" spc="-105" dirty="0">
                <a:latin typeface="Cambria" panose="02040503050406030204" pitchFamily="18" charset="0"/>
                <a:ea typeface="Cambria" panose="02040503050406030204" pitchFamily="18" charset="0"/>
                <a:cs typeface="Calibri"/>
              </a:rPr>
              <a:t> </a:t>
            </a:r>
            <a:r>
              <a:rPr lang="en-US" sz="1800" spc="-50" dirty="0">
                <a:latin typeface="Cambria" panose="02040503050406030204" pitchFamily="18" charset="0"/>
                <a:ea typeface="Cambria" panose="02040503050406030204" pitchFamily="18" charset="0"/>
                <a:cs typeface="Calibri"/>
              </a:rPr>
              <a:t>:</a:t>
            </a:r>
            <a:r>
              <a:rPr lang="en-US" spc="-50" dirty="0">
                <a:latin typeface="Cambria" panose="02040503050406030204" pitchFamily="18" charset="0"/>
                <a:ea typeface="Cambria" panose="02040503050406030204" pitchFamily="18" charset="0"/>
                <a:cs typeface="Calibri"/>
              </a:rPr>
              <a:t>  </a:t>
            </a:r>
            <a:r>
              <a:rPr lang="en-US" sz="1800" spc="-484" dirty="0">
                <a:latin typeface="Cambria" panose="02040503050406030204" pitchFamily="18" charset="0"/>
                <a:ea typeface="Cambria" panose="02040503050406030204" pitchFamily="18" charset="0"/>
                <a:cs typeface="Calibri"/>
              </a:rPr>
              <a:t> </a:t>
            </a:r>
            <a:r>
              <a:rPr lang="en-US" sz="1800" dirty="0">
                <a:latin typeface="Cambria" panose="02040503050406030204" pitchFamily="18" charset="0"/>
                <a:ea typeface="Cambria" panose="02040503050406030204" pitchFamily="18" charset="0"/>
                <a:cs typeface="Calibri"/>
              </a:rPr>
              <a:t>Ch.</a:t>
            </a:r>
            <a:r>
              <a:rPr lang="en-US" sz="1800" spc="-30" dirty="0">
                <a:latin typeface="Cambria" panose="02040503050406030204" pitchFamily="18" charset="0"/>
                <a:ea typeface="Cambria" panose="02040503050406030204" pitchFamily="18" charset="0"/>
                <a:cs typeface="Calibri"/>
              </a:rPr>
              <a:t> </a:t>
            </a:r>
            <a:r>
              <a:rPr lang="en-US" sz="1800" dirty="0">
                <a:latin typeface="Cambria" panose="02040503050406030204" pitchFamily="18" charset="0"/>
                <a:ea typeface="Cambria" panose="02040503050406030204" pitchFamily="18" charset="0"/>
                <a:cs typeface="Calibri"/>
              </a:rPr>
              <a:t>Mahasri</a:t>
            </a:r>
            <a:r>
              <a:rPr lang="en-US" sz="1800" spc="-50" dirty="0">
                <a:latin typeface="Cambria" panose="02040503050406030204" pitchFamily="18" charset="0"/>
                <a:ea typeface="Cambria" panose="02040503050406030204" pitchFamily="18" charset="0"/>
                <a:cs typeface="Calibri"/>
              </a:rPr>
              <a:t> </a:t>
            </a:r>
            <a:r>
              <a:rPr lang="en-US" sz="1800" dirty="0">
                <a:latin typeface="Cambria" panose="02040503050406030204" pitchFamily="18" charset="0"/>
                <a:ea typeface="Cambria" panose="02040503050406030204" pitchFamily="18" charset="0"/>
                <a:cs typeface="Calibri"/>
              </a:rPr>
              <a:t>Reddy 24211A05A5</a:t>
            </a:r>
            <a:r>
              <a:rPr lang="en-US" sz="1800" spc="-35" dirty="0">
                <a:latin typeface="Cambria" panose="02040503050406030204" pitchFamily="18" charset="0"/>
                <a:ea typeface="Cambria" panose="02040503050406030204" pitchFamily="18" charset="0"/>
                <a:cs typeface="Calibri"/>
              </a:rPr>
              <a:t> </a:t>
            </a:r>
            <a:r>
              <a:rPr lang="en-US" sz="1800" spc="-50" dirty="0">
                <a:latin typeface="Cambria" panose="02040503050406030204" pitchFamily="18" charset="0"/>
                <a:ea typeface="Cambria" panose="02040503050406030204" pitchFamily="18" charset="0"/>
                <a:cs typeface="Calibri"/>
              </a:rPr>
              <a:t>:</a:t>
            </a:r>
            <a:r>
              <a:rPr lang="en-US" spc="-50" dirty="0">
                <a:latin typeface="Cambria" panose="02040503050406030204" pitchFamily="18" charset="0"/>
                <a:ea typeface="Cambria" panose="02040503050406030204" pitchFamily="18" charset="0"/>
                <a:cs typeface="Calibri"/>
              </a:rPr>
              <a:t>  </a:t>
            </a:r>
            <a:r>
              <a:rPr lang="en-US" sz="1800" dirty="0">
                <a:latin typeface="Cambria" panose="02040503050406030204" pitchFamily="18" charset="0"/>
                <a:ea typeface="Cambria" panose="02040503050406030204" pitchFamily="18" charset="0"/>
                <a:cs typeface="Calibri"/>
              </a:rPr>
              <a:t>Ch.</a:t>
            </a:r>
            <a:r>
              <a:rPr lang="en-US" sz="1800" spc="-50" dirty="0">
                <a:latin typeface="Cambria" panose="02040503050406030204" pitchFamily="18" charset="0"/>
                <a:ea typeface="Cambria" panose="02040503050406030204" pitchFamily="18" charset="0"/>
                <a:cs typeface="Calibri"/>
              </a:rPr>
              <a:t> </a:t>
            </a:r>
            <a:r>
              <a:rPr lang="en-US" sz="1800" dirty="0">
                <a:latin typeface="Cambria" panose="02040503050406030204" pitchFamily="18" charset="0"/>
                <a:ea typeface="Cambria" panose="02040503050406030204" pitchFamily="18" charset="0"/>
                <a:cs typeface="Calibri"/>
              </a:rPr>
              <a:t>Rohith</a:t>
            </a:r>
            <a:r>
              <a:rPr lang="en-US" sz="1800" spc="-30" dirty="0">
                <a:latin typeface="Cambria" panose="02040503050406030204" pitchFamily="18" charset="0"/>
                <a:ea typeface="Cambria" panose="02040503050406030204" pitchFamily="18" charset="0"/>
                <a:cs typeface="Calibri"/>
              </a:rPr>
              <a:t> </a:t>
            </a:r>
            <a:r>
              <a:rPr lang="en-US" sz="1800" spc="-10" dirty="0">
                <a:latin typeface="Cambria" panose="02040503050406030204" pitchFamily="18" charset="0"/>
                <a:ea typeface="Cambria" panose="02040503050406030204" pitchFamily="18" charset="0"/>
                <a:cs typeface="Calibri"/>
              </a:rPr>
              <a:t>Reddy</a:t>
            </a:r>
            <a:endParaRPr lang="en-US" sz="1800" dirty="0">
              <a:latin typeface="Cambria" panose="02040503050406030204" pitchFamily="18" charset="0"/>
              <a:ea typeface="Cambria" panose="02040503050406030204" pitchFamily="18" charset="0"/>
              <a:cs typeface="Calibri"/>
            </a:endParaRPr>
          </a:p>
        </p:txBody>
      </p:sp>
      <p:sp>
        <p:nvSpPr>
          <p:cNvPr id="8" name="object 8"/>
          <p:cNvSpPr txBox="1"/>
          <p:nvPr/>
        </p:nvSpPr>
        <p:spPr>
          <a:xfrm>
            <a:off x="8224247" y="4823386"/>
            <a:ext cx="3416300" cy="1571328"/>
          </a:xfrm>
          <a:prstGeom prst="rect">
            <a:avLst/>
          </a:prstGeom>
        </p:spPr>
        <p:txBody>
          <a:bodyPr vert="horz" wrap="square" lIns="0" tIns="12700" rIns="0" bIns="0" rtlCol="0">
            <a:spAutoFit/>
          </a:bodyPr>
          <a:lstStyle/>
          <a:p>
            <a:pPr marL="12700">
              <a:lnSpc>
                <a:spcPct val="100000"/>
              </a:lnSpc>
              <a:spcBef>
                <a:spcPts val="100"/>
              </a:spcBef>
            </a:pPr>
            <a:r>
              <a:rPr sz="2000" b="1" spc="100" dirty="0">
                <a:latin typeface="Cambria" panose="02040503050406030204" pitchFamily="18" charset="0"/>
                <a:ea typeface="Cambria" panose="02040503050406030204" pitchFamily="18" charset="0"/>
                <a:cs typeface="Cambria"/>
              </a:rPr>
              <a:t>Guided</a:t>
            </a:r>
            <a:r>
              <a:rPr sz="2000" b="1" spc="235" dirty="0">
                <a:latin typeface="Cambria" panose="02040503050406030204" pitchFamily="18" charset="0"/>
                <a:ea typeface="Cambria" panose="02040503050406030204" pitchFamily="18" charset="0"/>
                <a:cs typeface="Cambria"/>
              </a:rPr>
              <a:t> </a:t>
            </a:r>
            <a:r>
              <a:rPr sz="2000" b="1" spc="100" dirty="0">
                <a:latin typeface="Cambria" panose="02040503050406030204" pitchFamily="18" charset="0"/>
                <a:ea typeface="Cambria" panose="02040503050406030204" pitchFamily="18" charset="0"/>
                <a:cs typeface="Cambria"/>
              </a:rPr>
              <a:t>By:</a:t>
            </a:r>
            <a:endParaRPr lang="en-US" sz="2000" b="1" spc="100" dirty="0">
              <a:latin typeface="Cambria" panose="02040503050406030204" pitchFamily="18" charset="0"/>
              <a:ea typeface="Cambria" panose="02040503050406030204" pitchFamily="18" charset="0"/>
              <a:cs typeface="Cambria"/>
            </a:endParaRPr>
          </a:p>
          <a:p>
            <a:pPr marL="12700">
              <a:lnSpc>
                <a:spcPct val="100000"/>
              </a:lnSpc>
              <a:spcBef>
                <a:spcPts val="100"/>
              </a:spcBef>
            </a:pPr>
            <a:endParaRPr sz="2000" dirty="0">
              <a:latin typeface="Cambria" panose="02040503050406030204" pitchFamily="18" charset="0"/>
              <a:ea typeface="Cambria" panose="02040503050406030204" pitchFamily="18" charset="0"/>
              <a:cs typeface="Cambria"/>
            </a:endParaRPr>
          </a:p>
          <a:p>
            <a:pPr marL="12700" marR="5080">
              <a:lnSpc>
                <a:spcPct val="103299"/>
              </a:lnSpc>
              <a:spcBef>
                <a:spcPts val="40"/>
              </a:spcBef>
            </a:pPr>
            <a:r>
              <a:rPr lang="en-US" sz="2000" dirty="0">
                <a:latin typeface="Cambria" panose="02040503050406030204" pitchFamily="18" charset="0"/>
                <a:ea typeface="Cambria" panose="02040503050406030204" pitchFamily="18" charset="0"/>
                <a:cs typeface="Calibri"/>
              </a:rPr>
              <a:t>Mahesh</a:t>
            </a:r>
            <a:r>
              <a:rPr lang="en-US" sz="2000" spc="130"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Kumar</a:t>
            </a:r>
            <a:r>
              <a:rPr lang="en-US" sz="2000" spc="50" dirty="0">
                <a:latin typeface="Cambria" panose="02040503050406030204" pitchFamily="18" charset="0"/>
                <a:ea typeface="Cambria" panose="02040503050406030204" pitchFamily="18" charset="0"/>
                <a:cs typeface="Calibri"/>
              </a:rPr>
              <a:t> </a:t>
            </a:r>
            <a:r>
              <a:rPr lang="en-US" sz="2000" spc="-10" dirty="0">
                <a:latin typeface="Cambria" panose="02040503050406030204" pitchFamily="18" charset="0"/>
                <a:ea typeface="Cambria" panose="02040503050406030204" pitchFamily="18" charset="0"/>
                <a:cs typeface="Calibri"/>
              </a:rPr>
              <a:t>Challa MTech(</a:t>
            </a:r>
            <a:r>
              <a:rPr lang="en-US" sz="2000" spc="-10" dirty="0" err="1">
                <a:latin typeface="Cambria" panose="02040503050406030204" pitchFamily="18" charset="0"/>
                <a:ea typeface="Cambria" panose="02040503050406030204" pitchFamily="18" charset="0"/>
                <a:cs typeface="Calibri"/>
              </a:rPr>
              <a:t>Ph.D</a:t>
            </a:r>
            <a:r>
              <a:rPr lang="en-US" sz="2000" spc="-10" dirty="0">
                <a:latin typeface="Cambria" panose="02040503050406030204" pitchFamily="18" charset="0"/>
                <a:ea typeface="Cambria" panose="02040503050406030204" pitchFamily="18" charset="0"/>
                <a:cs typeface="Calibri"/>
              </a:rPr>
              <a:t>)</a:t>
            </a:r>
            <a:r>
              <a:rPr lang="en-US" sz="2000" spc="535" dirty="0">
                <a:latin typeface="Cambria" panose="02040503050406030204" pitchFamily="18" charset="0"/>
                <a:ea typeface="Cambria" panose="02040503050406030204" pitchFamily="18" charset="0"/>
                <a:cs typeface="Calibri"/>
              </a:rPr>
              <a:t> </a:t>
            </a:r>
            <a:r>
              <a:rPr lang="en-US" sz="2000" dirty="0">
                <a:latin typeface="Cambria" panose="02040503050406030204" pitchFamily="18" charset="0"/>
                <a:ea typeface="Cambria" panose="02040503050406030204" pitchFamily="18" charset="0"/>
                <a:cs typeface="Calibri"/>
              </a:rPr>
              <a:t>Assistant</a:t>
            </a:r>
            <a:r>
              <a:rPr lang="en-US" sz="2000" spc="114" dirty="0">
                <a:latin typeface="Cambria" panose="02040503050406030204" pitchFamily="18" charset="0"/>
                <a:ea typeface="Cambria" panose="02040503050406030204" pitchFamily="18" charset="0"/>
                <a:cs typeface="Calibri"/>
              </a:rPr>
              <a:t> </a:t>
            </a:r>
            <a:r>
              <a:rPr lang="en-US" sz="2000" spc="-10" dirty="0">
                <a:latin typeface="Cambria" panose="02040503050406030204" pitchFamily="18" charset="0"/>
                <a:ea typeface="Cambria" panose="02040503050406030204" pitchFamily="18" charset="0"/>
                <a:cs typeface="Calibri"/>
              </a:rPr>
              <a:t>Professor</a:t>
            </a:r>
            <a:endParaRPr lang="en-US" sz="2000" dirty="0">
              <a:latin typeface="Cambria" panose="02040503050406030204" pitchFamily="18" charset="0"/>
              <a:ea typeface="Cambria" panose="02040503050406030204" pitchFamily="18" charset="0"/>
              <a:cs typeface="Calibri"/>
            </a:endParaRPr>
          </a:p>
        </p:txBody>
      </p:sp>
      <p:sp>
        <p:nvSpPr>
          <p:cNvPr id="9" name="TextBox 8">
            <a:extLst>
              <a:ext uri="{FF2B5EF4-FFF2-40B4-BE49-F238E27FC236}">
                <a16:creationId xmlns:a16="http://schemas.microsoft.com/office/drawing/2014/main" id="{FBE1B268-2BCF-BBDB-EAC7-2485B0A763C7}"/>
              </a:ext>
            </a:extLst>
          </p:cNvPr>
          <p:cNvSpPr txBox="1"/>
          <p:nvPr/>
        </p:nvSpPr>
        <p:spPr>
          <a:xfrm>
            <a:off x="533400" y="3406704"/>
            <a:ext cx="10515600" cy="415498"/>
          </a:xfrm>
          <a:prstGeom prst="rect">
            <a:avLst/>
          </a:prstGeom>
          <a:noFill/>
        </p:spPr>
        <p:txBody>
          <a:bodyPr wrap="square" rtlCol="0">
            <a:spAutoFit/>
          </a:bodyPr>
          <a:lstStyle/>
          <a:p>
            <a:pPr marL="1106170">
              <a:lnSpc>
                <a:spcPct val="100000"/>
              </a:lnSpc>
              <a:spcBef>
                <a:spcPts val="640"/>
              </a:spcBef>
            </a:pPr>
            <a:r>
              <a:rPr lang="en-US" sz="2100" b="1" dirty="0">
                <a:latin typeface="Bookman Old Style" panose="02050604050505020204" pitchFamily="18" charset="0"/>
                <a:ea typeface="Cambria" panose="02040503050406030204" pitchFamily="18" charset="0"/>
                <a:cs typeface="Calibri"/>
              </a:rPr>
              <a:t>“Generative</a:t>
            </a:r>
            <a:r>
              <a:rPr lang="en-US" sz="2100" b="1" spc="15" dirty="0">
                <a:latin typeface="Bookman Old Style" panose="02050604050505020204" pitchFamily="18" charset="0"/>
                <a:ea typeface="Cambria" panose="02040503050406030204" pitchFamily="18" charset="0"/>
                <a:cs typeface="Calibri"/>
              </a:rPr>
              <a:t> </a:t>
            </a:r>
            <a:r>
              <a:rPr lang="en-US" sz="2100" b="1" spc="-20" dirty="0">
                <a:latin typeface="Bookman Old Style" panose="02050604050505020204" pitchFamily="18" charset="0"/>
                <a:ea typeface="Cambria" panose="02040503050406030204" pitchFamily="18" charset="0"/>
                <a:cs typeface="Calibri"/>
              </a:rPr>
              <a:t>AI-</a:t>
            </a:r>
            <a:r>
              <a:rPr lang="en-US" sz="2100" b="1" dirty="0">
                <a:latin typeface="Bookman Old Style" panose="02050604050505020204" pitchFamily="18" charset="0"/>
                <a:ea typeface="Cambria" panose="02040503050406030204" pitchFamily="18" charset="0"/>
                <a:cs typeface="Calibri"/>
              </a:rPr>
              <a:t>Based</a:t>
            </a:r>
            <a:r>
              <a:rPr lang="en-US" sz="2100" b="1" spc="-60" dirty="0">
                <a:latin typeface="Bookman Old Style" panose="02050604050505020204" pitchFamily="18" charset="0"/>
                <a:ea typeface="Cambria" panose="02040503050406030204" pitchFamily="18" charset="0"/>
                <a:cs typeface="Calibri"/>
              </a:rPr>
              <a:t> </a:t>
            </a:r>
            <a:r>
              <a:rPr lang="en-US" sz="2100" b="1" dirty="0">
                <a:latin typeface="Bookman Old Style" panose="02050604050505020204" pitchFamily="18" charset="0"/>
                <a:ea typeface="Cambria" panose="02040503050406030204" pitchFamily="18" charset="0"/>
                <a:cs typeface="Calibri"/>
              </a:rPr>
              <a:t>Smart</a:t>
            </a:r>
            <a:r>
              <a:rPr lang="en-US" sz="2100" b="1" spc="-55" dirty="0">
                <a:latin typeface="Bookman Old Style" panose="02050604050505020204" pitchFamily="18" charset="0"/>
                <a:ea typeface="Cambria" panose="02040503050406030204" pitchFamily="18" charset="0"/>
                <a:cs typeface="Calibri"/>
              </a:rPr>
              <a:t> </a:t>
            </a:r>
            <a:r>
              <a:rPr lang="en-US" sz="2100" b="1" dirty="0">
                <a:latin typeface="Bookman Old Style" panose="02050604050505020204" pitchFamily="18" charset="0"/>
                <a:ea typeface="Cambria" panose="02040503050406030204" pitchFamily="18" charset="0"/>
                <a:cs typeface="Calibri"/>
              </a:rPr>
              <a:t>Community</a:t>
            </a:r>
            <a:r>
              <a:rPr lang="en-US" sz="2100" b="1" spc="10" dirty="0">
                <a:latin typeface="Bookman Old Style" panose="02050604050505020204" pitchFamily="18" charset="0"/>
                <a:ea typeface="Cambria" panose="02040503050406030204" pitchFamily="18" charset="0"/>
                <a:cs typeface="Calibri"/>
              </a:rPr>
              <a:t> </a:t>
            </a:r>
            <a:r>
              <a:rPr lang="en-US" sz="2100" b="1" dirty="0">
                <a:latin typeface="Bookman Old Style" panose="02050604050505020204" pitchFamily="18" charset="0"/>
                <a:ea typeface="Cambria" panose="02040503050406030204" pitchFamily="18" charset="0"/>
                <a:cs typeface="Calibri"/>
              </a:rPr>
              <a:t>Tool</a:t>
            </a:r>
            <a:r>
              <a:rPr lang="en-US" sz="2100" b="1" spc="-40" dirty="0">
                <a:latin typeface="Bookman Old Style" panose="02050604050505020204" pitchFamily="18" charset="0"/>
                <a:ea typeface="Cambria" panose="02040503050406030204" pitchFamily="18" charset="0"/>
                <a:cs typeface="Calibri"/>
              </a:rPr>
              <a:t> </a:t>
            </a:r>
            <a:r>
              <a:rPr lang="en-US" sz="2100" b="1" dirty="0">
                <a:latin typeface="Bookman Old Style" panose="02050604050505020204" pitchFamily="18" charset="0"/>
                <a:ea typeface="Cambria" panose="02040503050406030204" pitchFamily="18" charset="0"/>
                <a:cs typeface="Calibri"/>
              </a:rPr>
              <a:t>Sharing</a:t>
            </a:r>
            <a:r>
              <a:rPr lang="en-US" sz="2100" b="1" spc="15" dirty="0">
                <a:latin typeface="Bookman Old Style" panose="02050604050505020204" pitchFamily="18" charset="0"/>
                <a:ea typeface="Cambria" panose="02040503050406030204" pitchFamily="18" charset="0"/>
                <a:cs typeface="Calibri"/>
              </a:rPr>
              <a:t> </a:t>
            </a:r>
            <a:r>
              <a:rPr lang="en-US" sz="2100" b="1" spc="-10" dirty="0">
                <a:latin typeface="Bookman Old Style" panose="02050604050505020204" pitchFamily="18" charset="0"/>
                <a:ea typeface="Cambria" panose="02040503050406030204" pitchFamily="18" charset="0"/>
                <a:cs typeface="Calibri"/>
              </a:rPr>
              <a:t>System”</a:t>
            </a:r>
            <a:endParaRPr lang="en-US" sz="2100" dirty="0">
              <a:latin typeface="Bookman Old Style" panose="02050604050505020204" pitchFamily="18" charset="0"/>
              <a:ea typeface="Cambria" panose="02040503050406030204" pitchFamily="18" charset="0"/>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04723" rIns="0" bIns="0" rtlCol="0">
            <a:spAutoFit/>
          </a:bodyPr>
          <a:lstStyle/>
          <a:p>
            <a:pPr marL="38100">
              <a:lnSpc>
                <a:spcPct val="100000"/>
              </a:lnSpc>
              <a:spcBef>
                <a:spcPts val="100"/>
              </a:spcBef>
            </a:pPr>
            <a:r>
              <a:rPr spc="-10" dirty="0"/>
              <a:t>Outline</a:t>
            </a:r>
          </a:p>
        </p:txBody>
      </p:sp>
      <p:sp>
        <p:nvSpPr>
          <p:cNvPr id="5" name="object 5"/>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6" name="object 6"/>
          <p:cNvSpPr txBox="1">
            <a:spLocks noGrp="1"/>
          </p:cNvSpPr>
          <p:nvPr>
            <p:ph type="sldNum" sz="quarter" idx="7"/>
          </p:nvPr>
        </p:nvSpPr>
        <p:spPr>
          <a:prstGeom prst="rect">
            <a:avLst/>
          </a:prstGeom>
        </p:spPr>
        <p:txBody>
          <a:bodyPr vert="horz" wrap="square" lIns="0" tIns="1905" rIns="0" bIns="0" rtlCol="0">
            <a:spAutoFit/>
          </a:bodyPr>
          <a:lstStyle/>
          <a:p>
            <a:pPr marL="154940">
              <a:lnSpc>
                <a:spcPct val="100000"/>
              </a:lnSpc>
              <a:spcBef>
                <a:spcPts val="15"/>
              </a:spcBef>
            </a:pPr>
            <a:fld id="{81D60167-4931-47E6-BA6A-407CBD079E47}" type="slidenum">
              <a:rPr spc="45" dirty="0"/>
              <a:t>2</a:t>
            </a:fld>
            <a:endParaRPr spc="45" dirty="0"/>
          </a:p>
        </p:txBody>
      </p:sp>
      <p:sp>
        <p:nvSpPr>
          <p:cNvPr id="3" name="object 3"/>
          <p:cNvSpPr txBox="1"/>
          <p:nvPr/>
        </p:nvSpPr>
        <p:spPr>
          <a:xfrm>
            <a:off x="823922" y="972248"/>
            <a:ext cx="10758478" cy="5342488"/>
          </a:xfrm>
          <a:prstGeom prst="rect">
            <a:avLst/>
          </a:prstGeom>
        </p:spPr>
        <p:txBody>
          <a:bodyPr vert="horz" wrap="square" lIns="0" tIns="109220" rIns="0" bIns="0" rtlCol="0">
            <a:spAutoFit/>
          </a:bodyPr>
          <a:lstStyle/>
          <a:p>
            <a:pPr marL="227329" indent="-189230">
              <a:lnSpc>
                <a:spcPct val="100000"/>
              </a:lnSpc>
              <a:spcBef>
                <a:spcPts val="860"/>
              </a:spcBef>
              <a:buFont typeface="Arial"/>
              <a:buChar char="•"/>
              <a:tabLst>
                <a:tab pos="227329" algn="l"/>
              </a:tabLst>
            </a:pPr>
            <a:r>
              <a:rPr lang="en-US" sz="2000" b="1" dirty="0">
                <a:solidFill>
                  <a:schemeClr val="tx2">
                    <a:lumMod val="75000"/>
                  </a:schemeClr>
                </a:solidFill>
                <a:latin typeface="Cambria"/>
                <a:cs typeface="Cambria"/>
              </a:rPr>
              <a:t>Abstract</a:t>
            </a:r>
            <a:endParaRPr sz="2000" b="1" dirty="0">
              <a:solidFill>
                <a:schemeClr val="tx2">
                  <a:lumMod val="75000"/>
                </a:schemeClr>
              </a:solidFill>
              <a:latin typeface="Cambria"/>
              <a:cs typeface="Cambria"/>
            </a:endParaRPr>
          </a:p>
          <a:p>
            <a:pPr marL="227329" indent="-189230">
              <a:lnSpc>
                <a:spcPct val="100000"/>
              </a:lnSpc>
              <a:spcBef>
                <a:spcPts val="760"/>
              </a:spcBef>
              <a:buFont typeface="Arial"/>
              <a:buChar char="•"/>
              <a:tabLst>
                <a:tab pos="227329" algn="l"/>
              </a:tabLst>
            </a:pPr>
            <a:r>
              <a:rPr lang="en-US" sz="2000" b="1" spc="-10" dirty="0">
                <a:solidFill>
                  <a:srgbClr val="002060"/>
                </a:solidFill>
                <a:latin typeface="Cambria"/>
                <a:cs typeface="Cambria"/>
              </a:rPr>
              <a:t>Introduction</a:t>
            </a:r>
          </a:p>
          <a:p>
            <a:pPr marL="227329" indent="-189230">
              <a:lnSpc>
                <a:spcPct val="100000"/>
              </a:lnSpc>
              <a:spcBef>
                <a:spcPts val="760"/>
              </a:spcBef>
              <a:buFont typeface="Arial"/>
              <a:buChar char="•"/>
              <a:tabLst>
                <a:tab pos="227329" algn="l"/>
              </a:tabLst>
            </a:pPr>
            <a:r>
              <a:rPr lang="en-US" sz="2000" b="1" dirty="0">
                <a:solidFill>
                  <a:schemeClr val="tx2">
                    <a:lumMod val="75000"/>
                  </a:schemeClr>
                </a:solidFill>
                <a:latin typeface="Cambria"/>
                <a:cs typeface="Cambria"/>
              </a:rPr>
              <a:t>Literature Survey</a:t>
            </a:r>
          </a:p>
          <a:p>
            <a:pPr marL="227329" indent="-189230">
              <a:lnSpc>
                <a:spcPct val="100000"/>
              </a:lnSpc>
              <a:spcBef>
                <a:spcPts val="760"/>
              </a:spcBef>
              <a:buFont typeface="Arial"/>
              <a:buChar char="•"/>
              <a:tabLst>
                <a:tab pos="227329" algn="l"/>
              </a:tabLst>
            </a:pPr>
            <a:r>
              <a:rPr lang="en-US" sz="2000" b="1" dirty="0">
                <a:solidFill>
                  <a:schemeClr val="tx2">
                    <a:lumMod val="75000"/>
                  </a:schemeClr>
                </a:solidFill>
                <a:latin typeface="Cambria"/>
                <a:cs typeface="Cambria"/>
              </a:rPr>
              <a:t>Existing System</a:t>
            </a:r>
          </a:p>
          <a:p>
            <a:pPr marL="227329" indent="-189230">
              <a:lnSpc>
                <a:spcPct val="100000"/>
              </a:lnSpc>
              <a:spcBef>
                <a:spcPts val="760"/>
              </a:spcBef>
              <a:buFont typeface="Arial"/>
              <a:buChar char="•"/>
              <a:tabLst>
                <a:tab pos="227329" algn="l"/>
              </a:tabLst>
            </a:pPr>
            <a:r>
              <a:rPr lang="en-US" sz="2000" b="1" dirty="0">
                <a:solidFill>
                  <a:schemeClr val="tx2">
                    <a:lumMod val="75000"/>
                  </a:schemeClr>
                </a:solidFill>
                <a:latin typeface="Cambria"/>
                <a:cs typeface="Cambria"/>
              </a:rPr>
              <a:t>Problem Statement &amp; Objectives</a:t>
            </a:r>
          </a:p>
          <a:p>
            <a:pPr marL="227329" indent="-189230">
              <a:spcBef>
                <a:spcPts val="760"/>
              </a:spcBef>
              <a:buFont typeface="Arial"/>
              <a:buChar char="•"/>
              <a:tabLst>
                <a:tab pos="227329" algn="l"/>
              </a:tabLst>
            </a:pPr>
            <a:r>
              <a:rPr lang="en-US" sz="2000" b="1" spc="-10" dirty="0">
                <a:solidFill>
                  <a:srgbClr val="002060"/>
                </a:solidFill>
                <a:latin typeface="Cambria"/>
                <a:cs typeface="Cambria"/>
              </a:rPr>
              <a:t>Proposed</a:t>
            </a:r>
            <a:r>
              <a:rPr lang="en-US" sz="2000" b="1" spc="-30" dirty="0">
                <a:solidFill>
                  <a:srgbClr val="002060"/>
                </a:solidFill>
                <a:latin typeface="Cambria"/>
                <a:cs typeface="Cambria"/>
              </a:rPr>
              <a:t> </a:t>
            </a:r>
            <a:r>
              <a:rPr lang="en-US" sz="2000" b="1" dirty="0">
                <a:solidFill>
                  <a:srgbClr val="002060"/>
                </a:solidFill>
                <a:latin typeface="Cambria"/>
                <a:cs typeface="Cambria"/>
              </a:rPr>
              <a:t>List</a:t>
            </a:r>
            <a:r>
              <a:rPr lang="en-US" sz="2000" b="1" spc="-25" dirty="0">
                <a:solidFill>
                  <a:srgbClr val="002060"/>
                </a:solidFill>
                <a:latin typeface="Cambria"/>
                <a:cs typeface="Cambria"/>
              </a:rPr>
              <a:t> </a:t>
            </a:r>
            <a:r>
              <a:rPr lang="en-US" sz="2000" b="1" dirty="0">
                <a:solidFill>
                  <a:srgbClr val="002060"/>
                </a:solidFill>
                <a:latin typeface="Cambria"/>
                <a:cs typeface="Cambria"/>
              </a:rPr>
              <a:t>of</a:t>
            </a:r>
            <a:r>
              <a:rPr lang="en-US" sz="2000" b="1" spc="-30" dirty="0">
                <a:solidFill>
                  <a:srgbClr val="002060"/>
                </a:solidFill>
                <a:latin typeface="Cambria"/>
                <a:cs typeface="Cambria"/>
              </a:rPr>
              <a:t> </a:t>
            </a:r>
            <a:r>
              <a:rPr lang="en-US" sz="2000" b="1" spc="-10" dirty="0">
                <a:solidFill>
                  <a:srgbClr val="002060"/>
                </a:solidFill>
                <a:latin typeface="Cambria"/>
                <a:cs typeface="Cambria"/>
              </a:rPr>
              <a:t>Modules</a:t>
            </a:r>
          </a:p>
          <a:p>
            <a:pPr marL="227329" indent="-189230">
              <a:spcBef>
                <a:spcPts val="760"/>
              </a:spcBef>
              <a:buFont typeface="Arial"/>
              <a:buChar char="•"/>
              <a:tabLst>
                <a:tab pos="227329" algn="l"/>
              </a:tabLst>
            </a:pPr>
            <a:r>
              <a:rPr lang="en-US" sz="2000" b="1" spc="-10" dirty="0">
                <a:solidFill>
                  <a:srgbClr val="002060"/>
                </a:solidFill>
                <a:latin typeface="Cambria"/>
                <a:cs typeface="Cambria"/>
              </a:rPr>
              <a:t>Proposed</a:t>
            </a:r>
            <a:r>
              <a:rPr lang="en-US" sz="2000" b="1" spc="-70" dirty="0">
                <a:solidFill>
                  <a:srgbClr val="002060"/>
                </a:solidFill>
                <a:latin typeface="Cambria"/>
                <a:cs typeface="Cambria"/>
              </a:rPr>
              <a:t> </a:t>
            </a:r>
            <a:r>
              <a:rPr lang="en-US" sz="2000" b="1" spc="-10" dirty="0">
                <a:solidFill>
                  <a:srgbClr val="002060"/>
                </a:solidFill>
                <a:latin typeface="Cambria"/>
                <a:cs typeface="Cambria"/>
              </a:rPr>
              <a:t>System</a:t>
            </a:r>
            <a:r>
              <a:rPr lang="en-US" sz="2000" b="1" spc="-65" dirty="0">
                <a:solidFill>
                  <a:srgbClr val="002060"/>
                </a:solidFill>
                <a:latin typeface="Cambria"/>
                <a:cs typeface="Cambria"/>
              </a:rPr>
              <a:t> </a:t>
            </a:r>
            <a:r>
              <a:rPr lang="en-US" sz="2000" b="1" spc="-10" dirty="0">
                <a:solidFill>
                  <a:srgbClr val="002060"/>
                </a:solidFill>
                <a:latin typeface="Cambria"/>
                <a:cs typeface="Cambria"/>
              </a:rPr>
              <a:t>Architecture</a:t>
            </a:r>
            <a:r>
              <a:rPr lang="en-US" sz="2000" b="1" spc="-65" dirty="0">
                <a:solidFill>
                  <a:srgbClr val="002060"/>
                </a:solidFill>
                <a:latin typeface="Cambria"/>
                <a:cs typeface="Cambria"/>
              </a:rPr>
              <a:t> </a:t>
            </a:r>
            <a:r>
              <a:rPr lang="en-US" sz="2000" b="1" spc="-10" dirty="0">
                <a:solidFill>
                  <a:srgbClr val="002060"/>
                </a:solidFill>
                <a:latin typeface="Cambria"/>
                <a:cs typeface="Cambria"/>
              </a:rPr>
              <a:t>diagram</a:t>
            </a:r>
            <a:endParaRPr lang="en-US" sz="2000" dirty="0">
              <a:latin typeface="Cambria"/>
              <a:cs typeface="Cambria"/>
            </a:endParaRPr>
          </a:p>
          <a:p>
            <a:pPr marL="227329" indent="-189230">
              <a:spcBef>
                <a:spcPts val="760"/>
              </a:spcBef>
              <a:buFont typeface="Arial"/>
              <a:buChar char="•"/>
              <a:tabLst>
                <a:tab pos="227329" algn="l"/>
              </a:tabLst>
            </a:pPr>
            <a:r>
              <a:rPr lang="en-US" sz="2000" b="1" spc="-10" dirty="0">
                <a:solidFill>
                  <a:srgbClr val="002060"/>
                </a:solidFill>
                <a:latin typeface="Cambria"/>
                <a:cs typeface="Cambria"/>
              </a:rPr>
              <a:t>Proposed</a:t>
            </a:r>
            <a:r>
              <a:rPr lang="en-US" sz="2000" b="1" spc="-40" dirty="0">
                <a:solidFill>
                  <a:srgbClr val="002060"/>
                </a:solidFill>
                <a:latin typeface="Cambria"/>
                <a:cs typeface="Cambria"/>
              </a:rPr>
              <a:t> </a:t>
            </a:r>
            <a:r>
              <a:rPr lang="en-US" sz="2000" b="1" dirty="0">
                <a:solidFill>
                  <a:srgbClr val="002060"/>
                </a:solidFill>
                <a:latin typeface="Cambria"/>
                <a:cs typeface="Cambria"/>
              </a:rPr>
              <a:t>Algorithm</a:t>
            </a:r>
            <a:r>
              <a:rPr lang="en-US" sz="2000" b="1" spc="370" dirty="0">
                <a:solidFill>
                  <a:srgbClr val="002060"/>
                </a:solidFill>
                <a:latin typeface="Cambria"/>
                <a:cs typeface="Cambria"/>
              </a:rPr>
              <a:t> </a:t>
            </a:r>
            <a:r>
              <a:rPr lang="en-US" sz="2000" b="1" spc="-25" dirty="0">
                <a:solidFill>
                  <a:srgbClr val="002060"/>
                </a:solidFill>
                <a:latin typeface="Cambria"/>
                <a:cs typeface="Cambria"/>
              </a:rPr>
              <a:t>Working</a:t>
            </a:r>
            <a:r>
              <a:rPr lang="en-US" sz="2000" b="1" spc="-35" dirty="0">
                <a:solidFill>
                  <a:srgbClr val="002060"/>
                </a:solidFill>
                <a:latin typeface="Cambria"/>
                <a:cs typeface="Cambria"/>
              </a:rPr>
              <a:t> </a:t>
            </a:r>
            <a:r>
              <a:rPr lang="en-US" sz="2000" b="1" spc="-10" dirty="0">
                <a:solidFill>
                  <a:srgbClr val="002060"/>
                </a:solidFill>
                <a:latin typeface="Cambria"/>
                <a:cs typeface="Cambria"/>
              </a:rPr>
              <a:t>Steps.</a:t>
            </a:r>
            <a:endParaRPr lang="en-US" sz="2000" dirty="0">
              <a:latin typeface="Cambria"/>
              <a:cs typeface="Cambria"/>
            </a:endParaRPr>
          </a:p>
          <a:p>
            <a:pPr marL="227329" indent="-189230">
              <a:spcBef>
                <a:spcPts val="760"/>
              </a:spcBef>
              <a:buFont typeface="Arial"/>
              <a:buChar char="•"/>
              <a:tabLst>
                <a:tab pos="227329" algn="l"/>
              </a:tabLst>
            </a:pPr>
            <a:r>
              <a:rPr lang="en-US" sz="2000" b="1" spc="-10" dirty="0">
                <a:solidFill>
                  <a:srgbClr val="002060"/>
                </a:solidFill>
                <a:latin typeface="Cambria"/>
                <a:cs typeface="Cambria"/>
              </a:rPr>
              <a:t>Proposed</a:t>
            </a:r>
            <a:r>
              <a:rPr lang="en-US" sz="2000" b="1" spc="-50" dirty="0">
                <a:solidFill>
                  <a:srgbClr val="002060"/>
                </a:solidFill>
                <a:latin typeface="Cambria"/>
                <a:cs typeface="Cambria"/>
              </a:rPr>
              <a:t> </a:t>
            </a:r>
            <a:r>
              <a:rPr lang="en-US" sz="2000" b="1" dirty="0">
                <a:solidFill>
                  <a:srgbClr val="002060"/>
                </a:solidFill>
                <a:latin typeface="Cambria"/>
                <a:cs typeface="Cambria"/>
              </a:rPr>
              <a:t>Data</a:t>
            </a:r>
            <a:r>
              <a:rPr lang="en-US" sz="2000" b="1" spc="-45" dirty="0">
                <a:solidFill>
                  <a:srgbClr val="002060"/>
                </a:solidFill>
                <a:latin typeface="Cambria"/>
                <a:cs typeface="Cambria"/>
              </a:rPr>
              <a:t> </a:t>
            </a:r>
            <a:r>
              <a:rPr lang="en-US" sz="2000" b="1" dirty="0">
                <a:solidFill>
                  <a:srgbClr val="002060"/>
                </a:solidFill>
                <a:latin typeface="Cambria"/>
                <a:cs typeface="Cambria"/>
              </a:rPr>
              <a:t>Flow</a:t>
            </a:r>
            <a:r>
              <a:rPr lang="en-US" sz="2000" b="1" spc="-45" dirty="0">
                <a:solidFill>
                  <a:srgbClr val="002060"/>
                </a:solidFill>
                <a:latin typeface="Cambria"/>
                <a:cs typeface="Cambria"/>
              </a:rPr>
              <a:t> </a:t>
            </a:r>
            <a:r>
              <a:rPr lang="en-US" sz="2000" b="1" spc="-10" dirty="0">
                <a:solidFill>
                  <a:srgbClr val="002060"/>
                </a:solidFill>
                <a:latin typeface="Cambria"/>
                <a:cs typeface="Cambria"/>
              </a:rPr>
              <a:t>diagram</a:t>
            </a:r>
            <a:r>
              <a:rPr lang="en-US" sz="2000" b="1" spc="-50" dirty="0">
                <a:solidFill>
                  <a:srgbClr val="002060"/>
                </a:solidFill>
                <a:latin typeface="Cambria"/>
                <a:cs typeface="Cambria"/>
              </a:rPr>
              <a:t> </a:t>
            </a:r>
            <a:endParaRPr lang="en-US" sz="2000" dirty="0">
              <a:latin typeface="Cambria"/>
              <a:cs typeface="Cambria"/>
            </a:endParaRPr>
          </a:p>
          <a:p>
            <a:pPr marL="227329" indent="-189230">
              <a:spcBef>
                <a:spcPts val="760"/>
              </a:spcBef>
              <a:buFont typeface="Arial"/>
              <a:buChar char="•"/>
              <a:tabLst>
                <a:tab pos="227329" algn="l"/>
              </a:tabLst>
            </a:pPr>
            <a:r>
              <a:rPr lang="en-US" sz="2000" b="1" dirty="0">
                <a:solidFill>
                  <a:srgbClr val="002060"/>
                </a:solidFill>
                <a:latin typeface="Cambria"/>
                <a:cs typeface="Cambria"/>
              </a:rPr>
              <a:t>UML</a:t>
            </a:r>
            <a:r>
              <a:rPr lang="en-US" sz="2000" b="1" spc="-35" dirty="0">
                <a:solidFill>
                  <a:srgbClr val="002060"/>
                </a:solidFill>
                <a:latin typeface="Cambria"/>
                <a:cs typeface="Cambria"/>
              </a:rPr>
              <a:t> </a:t>
            </a:r>
            <a:r>
              <a:rPr lang="en-US" sz="2000" b="1" spc="-10" dirty="0">
                <a:solidFill>
                  <a:srgbClr val="002060"/>
                </a:solidFill>
                <a:latin typeface="Cambria"/>
                <a:cs typeface="Cambria"/>
              </a:rPr>
              <a:t>Diagrams</a:t>
            </a:r>
            <a:endParaRPr lang="en-US" sz="2000" spc="-10" dirty="0">
              <a:latin typeface="Cambria"/>
              <a:cs typeface="Cambria"/>
            </a:endParaRPr>
          </a:p>
          <a:p>
            <a:pPr marL="227329" indent="-189230">
              <a:spcBef>
                <a:spcPts val="760"/>
              </a:spcBef>
              <a:buFont typeface="Arial"/>
              <a:buChar char="•"/>
              <a:tabLst>
                <a:tab pos="227329" algn="l"/>
              </a:tabLst>
            </a:pPr>
            <a:r>
              <a:rPr lang="en-US" sz="2000" b="1" dirty="0">
                <a:solidFill>
                  <a:srgbClr val="002060"/>
                </a:solidFill>
                <a:latin typeface="Cambria"/>
                <a:cs typeface="Cambria"/>
              </a:rPr>
              <a:t>Results &amp; Discussion</a:t>
            </a:r>
          </a:p>
          <a:p>
            <a:pPr marL="227329" indent="-189230">
              <a:lnSpc>
                <a:spcPct val="100000"/>
              </a:lnSpc>
              <a:spcBef>
                <a:spcPts val="760"/>
              </a:spcBef>
              <a:buFont typeface="Arial"/>
              <a:buChar char="•"/>
              <a:tabLst>
                <a:tab pos="227329" algn="l"/>
              </a:tabLst>
            </a:pPr>
            <a:r>
              <a:rPr lang="en-US" sz="2000" b="1" spc="-10" dirty="0">
                <a:solidFill>
                  <a:srgbClr val="002060"/>
                </a:solidFill>
                <a:latin typeface="Cambria"/>
                <a:cs typeface="Cambria"/>
              </a:rPr>
              <a:t>Conclusion &amp; future Enhancement</a:t>
            </a:r>
          </a:p>
          <a:p>
            <a:pPr marL="227329" indent="-189230">
              <a:lnSpc>
                <a:spcPct val="100000"/>
              </a:lnSpc>
              <a:spcBef>
                <a:spcPts val="760"/>
              </a:spcBef>
              <a:buFont typeface="Arial"/>
              <a:buChar char="•"/>
              <a:tabLst>
                <a:tab pos="227329" algn="l"/>
              </a:tabLst>
            </a:pPr>
            <a:r>
              <a:rPr lang="en-US" sz="2000" b="1" dirty="0">
                <a:solidFill>
                  <a:srgbClr val="002060"/>
                </a:solidFill>
                <a:latin typeface="Cambria"/>
                <a:cs typeface="Cambria"/>
              </a:rPr>
              <a:t>References</a:t>
            </a:r>
            <a:endParaRPr sz="2000" dirty="0">
              <a:latin typeface="Cambria"/>
              <a:cs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76337" y="-9340"/>
            <a:ext cx="9175750" cy="637609"/>
          </a:xfrm>
          <a:prstGeom prst="rect">
            <a:avLst/>
          </a:prstGeom>
        </p:spPr>
        <p:txBody>
          <a:bodyPr vert="horz" wrap="square" lIns="0" tIns="204723" rIns="0" bIns="0" rtlCol="0">
            <a:spAutoFit/>
          </a:bodyPr>
          <a:lstStyle/>
          <a:p>
            <a:pPr marL="38100">
              <a:lnSpc>
                <a:spcPct val="100000"/>
              </a:lnSpc>
              <a:spcBef>
                <a:spcPts val="100"/>
              </a:spcBef>
            </a:pPr>
            <a:r>
              <a:rPr lang="en-US" spc="-10" dirty="0"/>
              <a:t>Abstract</a:t>
            </a:r>
            <a:endParaRPr sz="2800" dirty="0"/>
          </a:p>
        </p:txBody>
      </p:sp>
      <p:sp>
        <p:nvSpPr>
          <p:cNvPr id="5" name="object 5"/>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6" name="object 6"/>
          <p:cNvSpPr txBox="1">
            <a:spLocks noGrp="1"/>
          </p:cNvSpPr>
          <p:nvPr>
            <p:ph type="sldNum" sz="quarter" idx="7"/>
          </p:nvPr>
        </p:nvSpPr>
        <p:spPr>
          <a:prstGeom prst="rect">
            <a:avLst/>
          </a:prstGeom>
        </p:spPr>
        <p:txBody>
          <a:bodyPr vert="horz" wrap="square" lIns="0" tIns="1905" rIns="0" bIns="0" rtlCol="0">
            <a:spAutoFit/>
          </a:bodyPr>
          <a:lstStyle/>
          <a:p>
            <a:pPr marL="154940">
              <a:lnSpc>
                <a:spcPct val="100000"/>
              </a:lnSpc>
              <a:spcBef>
                <a:spcPts val="15"/>
              </a:spcBef>
            </a:pPr>
            <a:fld id="{81D60167-4931-47E6-BA6A-407CBD079E47}" type="slidenum">
              <a:rPr spc="45" dirty="0"/>
              <a:t>3</a:t>
            </a:fld>
            <a:endParaRPr spc="45" dirty="0"/>
          </a:p>
        </p:txBody>
      </p:sp>
      <p:sp>
        <p:nvSpPr>
          <p:cNvPr id="7" name="Rectangle 1">
            <a:extLst>
              <a:ext uri="{FF2B5EF4-FFF2-40B4-BE49-F238E27FC236}">
                <a16:creationId xmlns:a16="http://schemas.microsoft.com/office/drawing/2014/main" id="{6EC592A2-1A3E-98F0-D6E5-EFBF602C0BF3}"/>
              </a:ext>
            </a:extLst>
          </p:cNvPr>
          <p:cNvSpPr>
            <a:spLocks noChangeArrowheads="1"/>
          </p:cNvSpPr>
          <p:nvPr/>
        </p:nvSpPr>
        <p:spPr bwMode="auto">
          <a:xfrm>
            <a:off x="457200" y="1295400"/>
            <a:ext cx="1086200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Bookman Old Style" panose="02050604050505020204" pitchFamily="18" charset="0"/>
                <a:ea typeface="Cambria" panose="02040503050406030204" pitchFamily="18" charset="0"/>
              </a:rPr>
              <a:t>Tool Share is a smart community-based tool sharing system designed to help people rent and lend tools within their local area. Many people buy tools such as drills, ladders, gardening tools, and repair equipment for short-term use, but these tools remain unused after the work is completed. At the same time, nearby users may need the same tools for a limited period. The proposed system connects tool owners and borrowers through a simple web platform. It includes user registration, login, tool request management, owner approval, payment details, refundable security deposit, verification, and review features. The system also uses Generative Al to suggest suitable tools based on the borrower's requirement, making the process easier for users who know the task but do not know the exact tool name. Tool Share reduces unnecessary purchases, promotes local sharing, saves money, and improves trust between users through a structured borrowing and lending process.</a:t>
            </a:r>
            <a:endParaRPr kumimoji="0" lang="en-US" altLang="en-US" sz="2000" i="0" u="none" strike="noStrike" cap="none" normalizeH="0" baseline="0" dirty="0">
              <a:ln>
                <a:noFill/>
              </a:ln>
              <a:solidFill>
                <a:schemeClr val="tx1"/>
              </a:solidFill>
              <a:effectLst/>
              <a:latin typeface="Bookman Old Style" panose="0205060405050502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19199" y="228600"/>
            <a:ext cx="2514601" cy="446276"/>
          </a:xfrm>
          <a:prstGeom prst="rect">
            <a:avLst/>
          </a:prstGeom>
        </p:spPr>
        <p:txBody>
          <a:bodyPr vert="horz" wrap="square" lIns="0" tIns="60960" rIns="0" bIns="0" rtlCol="0">
            <a:spAutoFit/>
          </a:bodyPr>
          <a:lstStyle/>
          <a:p>
            <a:pPr marL="38100" marR="30480">
              <a:lnSpc>
                <a:spcPts val="3020"/>
              </a:lnSpc>
              <a:spcBef>
                <a:spcPts val="480"/>
              </a:spcBef>
            </a:pPr>
            <a:r>
              <a:rPr lang="en-US" spc="-20" dirty="0"/>
              <a:t>Introduction</a:t>
            </a:r>
            <a:endParaRPr sz="2800" dirty="0"/>
          </a:p>
        </p:txBody>
      </p:sp>
      <p:sp>
        <p:nvSpPr>
          <p:cNvPr id="5" name="object 5"/>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6" name="object 6"/>
          <p:cNvSpPr txBox="1">
            <a:spLocks noGrp="1"/>
          </p:cNvSpPr>
          <p:nvPr>
            <p:ph type="sldNum" sz="quarter" idx="7"/>
          </p:nvPr>
        </p:nvSpPr>
        <p:spPr>
          <a:prstGeom prst="rect">
            <a:avLst/>
          </a:prstGeom>
        </p:spPr>
        <p:txBody>
          <a:bodyPr vert="horz" wrap="square" lIns="0" tIns="1905" rIns="0" bIns="0" rtlCol="0">
            <a:spAutoFit/>
          </a:bodyPr>
          <a:lstStyle/>
          <a:p>
            <a:pPr marL="154940">
              <a:lnSpc>
                <a:spcPct val="100000"/>
              </a:lnSpc>
              <a:spcBef>
                <a:spcPts val="15"/>
              </a:spcBef>
            </a:pPr>
            <a:fld id="{81D60167-4931-47E6-BA6A-407CBD079E47}" type="slidenum">
              <a:rPr spc="45" dirty="0"/>
              <a:t>4</a:t>
            </a:fld>
            <a:endParaRPr spc="45" dirty="0"/>
          </a:p>
        </p:txBody>
      </p:sp>
      <p:sp>
        <p:nvSpPr>
          <p:cNvPr id="7" name="TextBox 6">
            <a:extLst>
              <a:ext uri="{FF2B5EF4-FFF2-40B4-BE49-F238E27FC236}">
                <a16:creationId xmlns:a16="http://schemas.microsoft.com/office/drawing/2014/main" id="{AC755E75-197D-809F-8EC5-6B89875C0471}"/>
              </a:ext>
            </a:extLst>
          </p:cNvPr>
          <p:cNvSpPr txBox="1"/>
          <p:nvPr/>
        </p:nvSpPr>
        <p:spPr>
          <a:xfrm>
            <a:off x="457200" y="1074509"/>
            <a:ext cx="10972800" cy="4708981"/>
          </a:xfrm>
          <a:prstGeom prst="rect">
            <a:avLst/>
          </a:prstGeom>
          <a:noFill/>
        </p:spPr>
        <p:txBody>
          <a:bodyPr wrap="square" rtlCol="0">
            <a:spAutoFit/>
          </a:bodyPr>
          <a:lstStyle/>
          <a:p>
            <a:r>
              <a:rPr lang="en-US" sz="2000" dirty="0">
                <a:latin typeface="Bookman Old Style" panose="02050604050505020204" pitchFamily="18" charset="0"/>
              </a:rPr>
              <a:t>Tool Share is a smart community-based web platform that allows people to share tools with others in their nearby area. It is designed to connect tool owners and borrowers in a simple and organized way.</a:t>
            </a:r>
          </a:p>
          <a:p>
            <a:endParaRPr lang="en-US" sz="2000" dirty="0">
              <a:latin typeface="Bookman Old Style" panose="02050604050505020204" pitchFamily="18" charset="0"/>
            </a:endParaRPr>
          </a:p>
          <a:p>
            <a:r>
              <a:rPr lang="en-US" sz="2000" dirty="0">
                <a:latin typeface="Bookman Old Style" panose="02050604050505020204" pitchFamily="18" charset="0"/>
              </a:rPr>
              <a:t>In daily life, many people buy tools such as drilling machines, ladders, cutters, gardening tools, and repair equipment for temporary use. After completing the work, these tools often remain unused at home for a long time.</a:t>
            </a:r>
          </a:p>
          <a:p>
            <a:endParaRPr lang="en-US" sz="2000" dirty="0">
              <a:latin typeface="Bookman Old Style" panose="02050604050505020204" pitchFamily="18" charset="0"/>
            </a:endParaRPr>
          </a:p>
          <a:p>
            <a:r>
              <a:rPr lang="en-US" sz="2000" dirty="0">
                <a:latin typeface="Bookman Old Style" panose="02050604050505020204" pitchFamily="18" charset="0"/>
              </a:rPr>
              <a:t>Tool Share helps solve this problem by allowing owners to rent their unused tools to nearby users who need them for a short period. This helps borrowers save money and helps owners earn from tools they already have.</a:t>
            </a:r>
          </a:p>
          <a:p>
            <a:endParaRPr lang="en-US" sz="2000" dirty="0">
              <a:latin typeface="Bookman Old Style" panose="02050604050505020204" pitchFamily="18" charset="0"/>
            </a:endParaRPr>
          </a:p>
          <a:p>
            <a:r>
              <a:rPr lang="en-US" sz="2000" dirty="0">
                <a:latin typeface="Bookman Old Style" panose="02050604050505020204" pitchFamily="18" charset="0"/>
              </a:rPr>
              <a:t>The system includes features such as registration, login, tool request, owner approval, payment details, refundable security deposit, verification, and reviews. It also uses Generative AI to suggest suitable tools based on the user’s requirement.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9968F-7612-B30B-DBF2-853B12B3EDE0}"/>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5AFC77FA-E72F-C278-5234-37DBF567553B}"/>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B529B4CD-8832-7DA3-E572-5E67519DD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340"/>
            <a:ext cx="12192000" cy="6258009"/>
          </a:xfrm>
          <a:prstGeom prst="rect">
            <a:avLst/>
          </a:prstGeom>
        </p:spPr>
      </p:pic>
    </p:spTree>
    <p:extLst>
      <p:ext uri="{BB962C8B-B14F-4D97-AF65-F5344CB8AC3E}">
        <p14:creationId xmlns:p14="http://schemas.microsoft.com/office/powerpoint/2010/main" val="1140735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F396-FEE5-337B-D9C8-09B650C1838F}"/>
              </a:ext>
            </a:extLst>
          </p:cNvPr>
          <p:cNvSpPr>
            <a:spLocks noGrp="1"/>
          </p:cNvSpPr>
          <p:nvPr>
            <p:ph type="title"/>
          </p:nvPr>
        </p:nvSpPr>
        <p:spPr>
          <a:xfrm>
            <a:off x="1143000" y="228600"/>
            <a:ext cx="9209087" cy="192947"/>
          </a:xfrm>
        </p:spPr>
        <p:txBody>
          <a:bodyPr/>
          <a:lstStyle/>
          <a:p>
            <a:r>
              <a:rPr lang="en-US" dirty="0"/>
              <a:t>Existing system</a:t>
            </a:r>
          </a:p>
        </p:txBody>
      </p:sp>
      <p:sp>
        <p:nvSpPr>
          <p:cNvPr id="3" name="Text Placeholder 2">
            <a:extLst>
              <a:ext uri="{FF2B5EF4-FFF2-40B4-BE49-F238E27FC236}">
                <a16:creationId xmlns:a16="http://schemas.microsoft.com/office/drawing/2014/main" id="{31562F13-E8D0-C132-7F54-8DB65DC2E052}"/>
              </a:ext>
            </a:extLst>
          </p:cNvPr>
          <p:cNvSpPr>
            <a:spLocks noGrp="1"/>
          </p:cNvSpPr>
          <p:nvPr>
            <p:ph type="body" idx="1"/>
          </p:nvPr>
        </p:nvSpPr>
        <p:spPr>
          <a:xfrm>
            <a:off x="349687" y="1270654"/>
            <a:ext cx="10927914" cy="2769989"/>
          </a:xfrm>
        </p:spPr>
        <p:txBody>
          <a:bodyPr/>
          <a:lstStyle/>
          <a:p>
            <a:pPr marL="285750" indent="-285750">
              <a:buFont typeface="Arial" panose="020B0604020202020204" pitchFamily="34" charset="0"/>
              <a:buChar char="•"/>
            </a:pPr>
            <a:r>
              <a:rPr lang="en-US" sz="2000" dirty="0">
                <a:latin typeface="Bookman Old Style" panose="02050604050505020204" pitchFamily="18" charset="0"/>
              </a:rPr>
              <a:t>People usually borrow tools from friends, </a:t>
            </a:r>
            <a:r>
              <a:rPr lang="en-US" sz="2000" dirty="0" err="1">
                <a:latin typeface="Bookman Old Style" panose="02050604050505020204" pitchFamily="18" charset="0"/>
              </a:rPr>
              <a:t>neighbours</a:t>
            </a:r>
            <a:r>
              <a:rPr lang="en-US" sz="2000" dirty="0">
                <a:latin typeface="Bookman Old Style" panose="02050604050505020204" pitchFamily="18" charset="0"/>
              </a:rPr>
              <a:t>, or relatives without any proper digital platform.</a:t>
            </a:r>
          </a:p>
          <a:p>
            <a:endParaRPr lang="en-US" sz="2000" dirty="0">
              <a:latin typeface="Bookman Old Style" panose="02050604050505020204" pitchFamily="18" charset="0"/>
            </a:endParaRPr>
          </a:p>
          <a:p>
            <a:pPr marL="285750" indent="-285750">
              <a:buFont typeface="Arial" panose="020B0604020202020204" pitchFamily="34" charset="0"/>
              <a:buChar char="•"/>
            </a:pPr>
            <a:r>
              <a:rPr lang="en-US" sz="2000" dirty="0">
                <a:latin typeface="Bookman Old Style" panose="02050604050505020204" pitchFamily="18" charset="0"/>
              </a:rPr>
              <a:t>Existing methods do not provide request status, owner approval, payment record, security deposit, or proof of tool handover.</a:t>
            </a:r>
          </a:p>
          <a:p>
            <a:pPr marL="285750" indent="-285750">
              <a:buFont typeface="Arial" panose="020B0604020202020204" pitchFamily="34" charset="0"/>
              <a:buChar char="•"/>
            </a:pPr>
            <a:endParaRPr lang="en-US" sz="2000" dirty="0">
              <a:latin typeface="Bookman Old Style" panose="02050604050505020204" pitchFamily="18" charset="0"/>
            </a:endParaRPr>
          </a:p>
          <a:p>
            <a:pPr marL="285750" indent="-285750">
              <a:buFont typeface="Arial" panose="020B0604020202020204" pitchFamily="34" charset="0"/>
              <a:buChar char="•"/>
            </a:pPr>
            <a:r>
              <a:rPr lang="en-US" sz="2000" dirty="0">
                <a:latin typeface="Bookman Old Style" panose="02050604050505020204" pitchFamily="18" charset="0"/>
              </a:rPr>
              <a:t>Users may not easily find the required tool nearby, and there is no proper system to ensure safety, responsibility, and damage protection.</a:t>
            </a:r>
          </a:p>
          <a:p>
            <a:endParaRPr lang="en-US" sz="2000" dirty="0">
              <a:latin typeface="Bookman Old Style" panose="02050604050505020204" pitchFamily="18" charset="0"/>
            </a:endParaRPr>
          </a:p>
        </p:txBody>
      </p:sp>
    </p:spTree>
    <p:extLst>
      <p:ext uri="{BB962C8B-B14F-4D97-AF65-F5344CB8AC3E}">
        <p14:creationId xmlns:p14="http://schemas.microsoft.com/office/powerpoint/2010/main" val="1076284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E2FE5-114A-54B0-0369-F3FD9B339291}"/>
              </a:ext>
            </a:extLst>
          </p:cNvPr>
          <p:cNvSpPr>
            <a:spLocks noGrp="1"/>
          </p:cNvSpPr>
          <p:nvPr>
            <p:ph type="title"/>
          </p:nvPr>
        </p:nvSpPr>
        <p:spPr>
          <a:xfrm>
            <a:off x="1143000" y="152400"/>
            <a:ext cx="9209087" cy="269147"/>
          </a:xfrm>
        </p:spPr>
        <p:txBody>
          <a:bodyPr/>
          <a:lstStyle/>
          <a:p>
            <a:r>
              <a:rPr lang="en-US" dirty="0"/>
              <a:t>Problem Statement &amp; Objectives</a:t>
            </a:r>
          </a:p>
        </p:txBody>
      </p:sp>
      <p:sp>
        <p:nvSpPr>
          <p:cNvPr id="3" name="Text Placeholder 2">
            <a:extLst>
              <a:ext uri="{FF2B5EF4-FFF2-40B4-BE49-F238E27FC236}">
                <a16:creationId xmlns:a16="http://schemas.microsoft.com/office/drawing/2014/main" id="{690023C0-22A9-8B54-E033-EAF052CDDBD3}"/>
              </a:ext>
            </a:extLst>
          </p:cNvPr>
          <p:cNvSpPr>
            <a:spLocks noGrp="1"/>
          </p:cNvSpPr>
          <p:nvPr>
            <p:ph type="body" idx="1"/>
          </p:nvPr>
        </p:nvSpPr>
        <p:spPr>
          <a:xfrm>
            <a:off x="304800" y="990600"/>
            <a:ext cx="11611411" cy="5257799"/>
          </a:xfrm>
        </p:spPr>
        <p:txBody>
          <a:bodyPr/>
          <a:lstStyle/>
          <a:p>
            <a:r>
              <a:rPr lang="en-US" b="1" dirty="0">
                <a:latin typeface="Bookman Old Style" panose="02050604050505020204" pitchFamily="18" charset="0"/>
              </a:rPr>
              <a:t>Problem Statement:</a:t>
            </a:r>
          </a:p>
          <a:p>
            <a:endParaRPr lang="en-US" b="1" dirty="0">
              <a:latin typeface="Bookman Old Style" panose="02050604050505020204" pitchFamily="18" charset="0"/>
            </a:endParaRPr>
          </a:p>
          <a:p>
            <a:pPr marL="285750" indent="-285750">
              <a:buFont typeface="Arial" panose="020B0604020202020204" pitchFamily="34" charset="0"/>
              <a:buChar char="•"/>
            </a:pPr>
            <a:r>
              <a:rPr lang="en-US" dirty="0">
                <a:latin typeface="Bookman Old Style" panose="02050604050505020204" pitchFamily="18" charset="0"/>
              </a:rPr>
              <a:t>Many people buy tools for short-term use, but after completing the work, those tools remain unused at home.</a:t>
            </a:r>
          </a:p>
          <a:p>
            <a:pPr marL="285750" indent="-285750">
              <a:buFont typeface="Arial" panose="020B0604020202020204" pitchFamily="34" charset="0"/>
              <a:buChar char="•"/>
            </a:pPr>
            <a:r>
              <a:rPr lang="en-US" dirty="0">
                <a:latin typeface="Bookman Old Style" panose="02050604050505020204" pitchFamily="18" charset="0"/>
              </a:rPr>
              <a:t>Nearby users may need the same tools temporarily, but they may not know who owns them in their locality.</a:t>
            </a:r>
          </a:p>
          <a:p>
            <a:pPr marL="285750" indent="-285750">
              <a:buFont typeface="Arial" panose="020B0604020202020204" pitchFamily="34" charset="0"/>
              <a:buChar char="•"/>
            </a:pPr>
            <a:r>
              <a:rPr lang="en-US" dirty="0">
                <a:latin typeface="Bookman Old Style" panose="02050604050505020204" pitchFamily="18" charset="0"/>
              </a:rPr>
              <a:t>Existing borrowing methods depend on friends, </a:t>
            </a:r>
            <a:r>
              <a:rPr lang="en-US" dirty="0" err="1">
                <a:latin typeface="Bookman Old Style" panose="02050604050505020204" pitchFamily="18" charset="0"/>
              </a:rPr>
              <a:t>neighbours</a:t>
            </a:r>
            <a:r>
              <a:rPr lang="en-US" dirty="0">
                <a:latin typeface="Bookman Old Style" panose="02050604050505020204" pitchFamily="18" charset="0"/>
              </a:rPr>
              <a:t>, or informal groups, which are not always reliable.</a:t>
            </a:r>
          </a:p>
          <a:p>
            <a:pPr marL="285750" indent="-285750">
              <a:buFont typeface="Arial" panose="020B0604020202020204" pitchFamily="34" charset="0"/>
              <a:buChar char="•"/>
            </a:pPr>
            <a:endParaRPr lang="en-US" dirty="0">
              <a:latin typeface="Bookman Old Style" panose="02050604050505020204" pitchFamily="18" charset="0"/>
            </a:endParaRPr>
          </a:p>
          <a:p>
            <a:r>
              <a:rPr lang="en-US" b="1" dirty="0">
                <a:latin typeface="Bookman Old Style" panose="02050604050505020204" pitchFamily="18" charset="0"/>
              </a:rPr>
              <a:t>Objectives : </a:t>
            </a:r>
          </a:p>
          <a:p>
            <a:endParaRPr lang="en-US" b="1" dirty="0">
              <a:latin typeface="Bookman Old Style" panose="02050604050505020204" pitchFamily="18" charset="0"/>
            </a:endParaRPr>
          </a:p>
          <a:p>
            <a:pPr marL="285750" indent="-285750">
              <a:buFont typeface="Arial" panose="020B0604020202020204" pitchFamily="34" charset="0"/>
              <a:buChar char="•"/>
            </a:pPr>
            <a:r>
              <a:rPr lang="en-US" dirty="0">
                <a:latin typeface="Bookman Old Style" panose="02050604050505020204" pitchFamily="18" charset="0"/>
              </a:rPr>
              <a:t>To connect local tool owners and borrowers through a simple web-based platform.</a:t>
            </a:r>
          </a:p>
          <a:p>
            <a:pPr marL="285750" indent="-285750">
              <a:buFont typeface="Arial" panose="020B0604020202020204" pitchFamily="34" charset="0"/>
              <a:buChar char="•"/>
            </a:pPr>
            <a:r>
              <a:rPr lang="en-US" dirty="0">
                <a:latin typeface="Bookman Old Style" panose="02050604050505020204" pitchFamily="18" charset="0"/>
              </a:rPr>
              <a:t>To reduce unnecessary tool purchases by allowing users to rent tools for short-term needs.</a:t>
            </a:r>
          </a:p>
          <a:p>
            <a:pPr marL="285750" indent="-285750">
              <a:buFont typeface="Arial" panose="020B0604020202020204" pitchFamily="34" charset="0"/>
              <a:buChar char="•"/>
            </a:pPr>
            <a:r>
              <a:rPr lang="en-US" dirty="0">
                <a:latin typeface="Bookman Old Style" panose="02050604050505020204" pitchFamily="18" charset="0"/>
              </a:rPr>
              <a:t>To provide a structured borrowing process with request, approval, payment, deposit, verification, and return flow.</a:t>
            </a:r>
          </a:p>
          <a:p>
            <a:pPr marL="285750" indent="-285750">
              <a:buFont typeface="Arial" panose="020B0604020202020204" pitchFamily="34" charset="0"/>
              <a:buChar char="•"/>
            </a:pPr>
            <a:r>
              <a:rPr lang="en-US" dirty="0">
                <a:latin typeface="Bookman Old Style" panose="02050604050505020204" pitchFamily="18" charset="0"/>
              </a:rPr>
              <a:t>To improve trust and safety using owner approval, security deposit, proof verification, and review system.</a:t>
            </a:r>
          </a:p>
          <a:p>
            <a:pPr marL="285750" indent="-285750">
              <a:buFont typeface="Arial" panose="020B0604020202020204" pitchFamily="34" charset="0"/>
              <a:buChar char="•"/>
            </a:pPr>
            <a:r>
              <a:rPr lang="en-US" dirty="0">
                <a:latin typeface="Bookman Old Style" panose="02050604050505020204" pitchFamily="18" charset="0"/>
              </a:rPr>
              <a:t>To use Generative Al support for suggesting suitable tools based on the borrower's requirement.</a:t>
            </a:r>
          </a:p>
        </p:txBody>
      </p:sp>
    </p:spTree>
    <p:extLst>
      <p:ext uri="{BB962C8B-B14F-4D97-AF65-F5344CB8AC3E}">
        <p14:creationId xmlns:p14="http://schemas.microsoft.com/office/powerpoint/2010/main" val="1049037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21894" rIns="0" bIns="0" rtlCol="0">
            <a:spAutoFit/>
          </a:bodyPr>
          <a:lstStyle/>
          <a:p>
            <a:pPr marL="38100">
              <a:lnSpc>
                <a:spcPct val="100000"/>
              </a:lnSpc>
              <a:spcBef>
                <a:spcPts val="100"/>
              </a:spcBef>
            </a:pPr>
            <a:r>
              <a:rPr sz="2600" dirty="0"/>
              <a:t>Proposed</a:t>
            </a:r>
            <a:r>
              <a:rPr sz="2600" spc="-45" dirty="0"/>
              <a:t> </a:t>
            </a:r>
            <a:r>
              <a:rPr sz="2600" dirty="0"/>
              <a:t>List</a:t>
            </a:r>
            <a:r>
              <a:rPr sz="2600" spc="-45" dirty="0"/>
              <a:t> </a:t>
            </a:r>
            <a:r>
              <a:rPr sz="2600" dirty="0"/>
              <a:t>of</a:t>
            </a:r>
            <a:r>
              <a:rPr sz="2600" spc="-45" dirty="0"/>
              <a:t> </a:t>
            </a:r>
            <a:r>
              <a:rPr sz="2600" spc="-10" dirty="0"/>
              <a:t>Modules</a:t>
            </a:r>
            <a:endParaRPr sz="2600" dirty="0"/>
          </a:p>
        </p:txBody>
      </p:sp>
      <p:sp>
        <p:nvSpPr>
          <p:cNvPr id="4" name="object 4"/>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5" name="object 5"/>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70" dirty="0"/>
              <a:t>8</a:t>
            </a:fld>
            <a:endParaRPr spc="70" dirty="0"/>
          </a:p>
        </p:txBody>
      </p:sp>
      <p:sp>
        <p:nvSpPr>
          <p:cNvPr id="8" name="TextBox 7">
            <a:extLst>
              <a:ext uri="{FF2B5EF4-FFF2-40B4-BE49-F238E27FC236}">
                <a16:creationId xmlns:a16="http://schemas.microsoft.com/office/drawing/2014/main" id="{CD6DA165-8C45-883D-87FF-D0301A96D51D}"/>
              </a:ext>
            </a:extLst>
          </p:cNvPr>
          <p:cNvSpPr txBox="1"/>
          <p:nvPr/>
        </p:nvSpPr>
        <p:spPr>
          <a:xfrm>
            <a:off x="0" y="1218450"/>
            <a:ext cx="12192000" cy="4708981"/>
          </a:xfrm>
          <a:prstGeom prst="rect">
            <a:avLst/>
          </a:prstGeom>
          <a:noFill/>
        </p:spPr>
        <p:txBody>
          <a:bodyPr wrap="square">
            <a:spAutoFit/>
          </a:bodyPr>
          <a:lstStyle/>
          <a:p>
            <a:pPr marL="285750" indent="-285750">
              <a:buFont typeface="Arial" panose="020B0604020202020204" pitchFamily="34" charset="0"/>
              <a:buChar char="•"/>
            </a:pPr>
            <a:r>
              <a:rPr lang="en-GB" sz="2000" b="1" dirty="0">
                <a:latin typeface="Bookman Old Style" panose="02050604050505020204" pitchFamily="18" charset="0"/>
              </a:rPr>
              <a:t> </a:t>
            </a:r>
            <a:r>
              <a:rPr lang="en-US" sz="2000" b="1" dirty="0">
                <a:latin typeface="Bookman Old Style" panose="02050604050505020204" pitchFamily="18" charset="0"/>
              </a:rPr>
              <a:t>User Module:</a:t>
            </a:r>
            <a:r>
              <a:rPr lang="en-IN" sz="2000" dirty="0">
                <a:latin typeface="Bookman Old Style" panose="02050604050505020204" pitchFamily="18" charset="0"/>
              </a:rPr>
              <a:t> </a:t>
            </a:r>
          </a:p>
          <a:p>
            <a:r>
              <a:rPr lang="en-IN" sz="2000" dirty="0">
                <a:latin typeface="Bookman Old Style" panose="02050604050505020204" pitchFamily="18" charset="0"/>
              </a:rPr>
              <a:t>      </a:t>
            </a:r>
            <a:r>
              <a:rPr lang="en-US" sz="2000" dirty="0">
                <a:latin typeface="Bookman Old Style" panose="02050604050505020204" pitchFamily="18" charset="0"/>
              </a:rPr>
              <a:t>Allows users to register and log in.</a:t>
            </a:r>
            <a:endParaRPr lang="en-IN" sz="2000" dirty="0">
              <a:latin typeface="Bookman Old Style" panose="02050604050505020204" pitchFamily="18" charset="0"/>
            </a:endParaRPr>
          </a:p>
          <a:p>
            <a:r>
              <a:rPr lang="en-IN" sz="2000" dirty="0">
                <a:latin typeface="Bookman Old Style" panose="02050604050505020204" pitchFamily="18" charset="0"/>
              </a:rPr>
              <a:t>      </a:t>
            </a:r>
            <a:r>
              <a:rPr lang="en-US" sz="2000" dirty="0">
                <a:latin typeface="Bookman Old Style" panose="02050604050505020204" pitchFamily="18" charset="0"/>
              </a:rPr>
              <a:t>Stores user details such as name, email, role, and location.</a:t>
            </a:r>
            <a:endParaRPr lang="en-IN" sz="2000" dirty="0">
              <a:latin typeface="Bookman Old Style" panose="02050604050505020204" pitchFamily="18" charset="0"/>
            </a:endParaRPr>
          </a:p>
          <a:p>
            <a:pPr marL="285750" indent="-285750">
              <a:buFont typeface="Arial" panose="020B0604020202020204" pitchFamily="34" charset="0"/>
              <a:buChar char="•"/>
            </a:pPr>
            <a:r>
              <a:rPr lang="en-US" sz="2000" b="1" dirty="0">
                <a:latin typeface="Bookman Old Style" panose="02050604050505020204" pitchFamily="18" charset="0"/>
              </a:rPr>
              <a:t>Request Module:</a:t>
            </a:r>
            <a:endParaRPr lang="en-IN" sz="2000" b="1" dirty="0">
              <a:latin typeface="Bookman Old Style" panose="02050604050505020204" pitchFamily="18" charset="0"/>
            </a:endParaRPr>
          </a:p>
          <a:p>
            <a:r>
              <a:rPr lang="en-IN" sz="2000" dirty="0">
                <a:latin typeface="Bookman Old Style" panose="02050604050505020204" pitchFamily="18" charset="0"/>
              </a:rPr>
              <a:t>      </a:t>
            </a:r>
            <a:r>
              <a:rPr lang="en-US" sz="2000" dirty="0">
                <a:latin typeface="Bookman Old Style" panose="02050604050505020204" pitchFamily="18" charset="0"/>
              </a:rPr>
              <a:t>Handles sending tool borrow requests. </a:t>
            </a:r>
            <a:endParaRPr lang="en-IN" sz="2000" dirty="0">
              <a:latin typeface="Bookman Old Style" panose="02050604050505020204" pitchFamily="18" charset="0"/>
            </a:endParaRPr>
          </a:p>
          <a:p>
            <a:r>
              <a:rPr lang="en-IN" sz="2000" dirty="0">
                <a:latin typeface="Bookman Old Style" panose="02050604050505020204" pitchFamily="18" charset="0"/>
              </a:rPr>
              <a:t>      </a:t>
            </a:r>
            <a:r>
              <a:rPr lang="en-US" sz="2000" dirty="0">
                <a:latin typeface="Bookman Old Style" panose="02050604050505020204" pitchFamily="18" charset="0"/>
              </a:rPr>
              <a:t>Tracks request details, status, and request history.</a:t>
            </a:r>
            <a:endParaRPr lang="en-IN" sz="2000" dirty="0">
              <a:latin typeface="Bookman Old Style" panose="02050604050505020204" pitchFamily="18" charset="0"/>
            </a:endParaRPr>
          </a:p>
          <a:p>
            <a:pPr marL="285750" indent="-285750">
              <a:buFont typeface="Arial" panose="020B0604020202020204" pitchFamily="34" charset="0"/>
              <a:buChar char="•"/>
            </a:pPr>
            <a:r>
              <a:rPr lang="en-US" sz="2000" b="1" dirty="0">
                <a:latin typeface="Bookman Old Style" panose="02050604050505020204" pitchFamily="18" charset="0"/>
              </a:rPr>
              <a:t>Approval Module:</a:t>
            </a:r>
            <a:endParaRPr lang="en-IN" sz="2000" b="1" dirty="0">
              <a:latin typeface="Bookman Old Style" panose="02050604050505020204" pitchFamily="18" charset="0"/>
            </a:endParaRPr>
          </a:p>
          <a:p>
            <a:r>
              <a:rPr lang="en-IN" sz="2000" dirty="0">
                <a:latin typeface="Bookman Old Style" panose="02050604050505020204" pitchFamily="18" charset="0"/>
              </a:rPr>
              <a:t>      </a:t>
            </a:r>
            <a:r>
              <a:rPr lang="en-US" sz="2000" dirty="0">
                <a:latin typeface="Bookman Old Style" panose="02050604050505020204" pitchFamily="18" charset="0"/>
              </a:rPr>
              <a:t>Allows tool owners to accept or reject requests.</a:t>
            </a:r>
            <a:endParaRPr lang="en-IN" sz="2000" dirty="0">
              <a:latin typeface="Bookman Old Style" panose="02050604050505020204" pitchFamily="18" charset="0"/>
            </a:endParaRPr>
          </a:p>
          <a:p>
            <a:r>
              <a:rPr lang="en-IN" sz="2000" dirty="0">
                <a:latin typeface="Bookman Old Style" panose="02050604050505020204" pitchFamily="18" charset="0"/>
              </a:rPr>
              <a:t>      </a:t>
            </a:r>
            <a:r>
              <a:rPr lang="en-US" sz="2000" dirty="0">
                <a:latin typeface="Bookman Old Style" panose="02050604050505020204" pitchFamily="18" charset="0"/>
              </a:rPr>
              <a:t>Updates the request status accordingly.</a:t>
            </a:r>
            <a:endParaRPr lang="en-IN" sz="2000" dirty="0">
              <a:latin typeface="Bookman Old Style" panose="02050604050505020204" pitchFamily="18" charset="0"/>
            </a:endParaRPr>
          </a:p>
          <a:p>
            <a:pPr marL="285750" indent="-285750">
              <a:buFont typeface="Arial" panose="020B0604020202020204" pitchFamily="34" charset="0"/>
              <a:buChar char="•"/>
            </a:pPr>
            <a:r>
              <a:rPr lang="en-US" sz="2000" b="1" dirty="0">
                <a:latin typeface="Bookman Old Style" panose="02050604050505020204" pitchFamily="18" charset="0"/>
              </a:rPr>
              <a:t>Payment Module:</a:t>
            </a:r>
            <a:endParaRPr lang="en-IN" sz="2000" b="1" dirty="0">
              <a:latin typeface="Bookman Old Style" panose="02050604050505020204" pitchFamily="18" charset="0"/>
            </a:endParaRPr>
          </a:p>
          <a:p>
            <a:r>
              <a:rPr lang="en-IN" sz="2000" dirty="0">
                <a:latin typeface="Bookman Old Style" panose="02050604050505020204" pitchFamily="18" charset="0"/>
              </a:rPr>
              <a:t>      </a:t>
            </a:r>
            <a:r>
              <a:rPr lang="en-US" sz="2000" dirty="0">
                <a:latin typeface="Bookman Old Style" panose="02050604050505020204" pitchFamily="18" charset="0"/>
              </a:rPr>
              <a:t>Manages rent amount, deposit amount, and payment details</a:t>
            </a:r>
            <a:r>
              <a:rPr lang="en-IN" sz="2000" dirty="0">
                <a:latin typeface="Bookman Old Style" panose="02050604050505020204" pitchFamily="18" charset="0"/>
              </a:rPr>
              <a:t>.</a:t>
            </a:r>
          </a:p>
          <a:p>
            <a:r>
              <a:rPr lang="en-IN" sz="2000" dirty="0">
                <a:latin typeface="Bookman Old Style" panose="02050604050505020204" pitchFamily="18" charset="0"/>
              </a:rPr>
              <a:t>      </a:t>
            </a:r>
            <a:r>
              <a:rPr lang="en-US" sz="2000" dirty="0">
                <a:latin typeface="Bookman Old Style" panose="02050604050505020204" pitchFamily="18" charset="0"/>
              </a:rPr>
              <a:t>Tracks payment submission, confirmation, and transaction status.</a:t>
            </a:r>
            <a:endParaRPr lang="en-IN" sz="2000" dirty="0">
              <a:latin typeface="Bookman Old Style" panose="02050604050505020204" pitchFamily="18" charset="0"/>
            </a:endParaRPr>
          </a:p>
          <a:p>
            <a:pPr marL="285750" indent="-285750">
              <a:buFont typeface="Arial" panose="020B0604020202020204" pitchFamily="34" charset="0"/>
              <a:buChar char="•"/>
            </a:pPr>
            <a:r>
              <a:rPr lang="en-US" sz="2000" b="1" dirty="0">
                <a:latin typeface="Bookman Old Style" panose="02050604050505020204" pitchFamily="18" charset="0"/>
              </a:rPr>
              <a:t>Verification Module: </a:t>
            </a:r>
            <a:endParaRPr lang="en-IN" sz="2000" b="1" dirty="0">
              <a:latin typeface="Bookman Old Style" panose="02050604050505020204" pitchFamily="18" charset="0"/>
            </a:endParaRPr>
          </a:p>
          <a:p>
            <a:r>
              <a:rPr lang="en-IN" sz="2000" dirty="0">
                <a:latin typeface="Bookman Old Style" panose="02050604050505020204" pitchFamily="18" charset="0"/>
              </a:rPr>
              <a:t>      </a:t>
            </a:r>
            <a:r>
              <a:rPr lang="en-US" sz="2000" dirty="0">
                <a:latin typeface="Bookman Old Style" panose="02050604050505020204" pitchFamily="18" charset="0"/>
              </a:rPr>
              <a:t>Handles uploading and storing verification videos or proofs. </a:t>
            </a:r>
            <a:endParaRPr lang="en-IN" sz="2000" dirty="0">
              <a:latin typeface="Bookman Old Style" panose="02050604050505020204" pitchFamily="18" charset="0"/>
            </a:endParaRPr>
          </a:p>
          <a:p>
            <a:r>
              <a:rPr lang="en-IN" sz="2000" dirty="0">
                <a:latin typeface="Bookman Old Style" panose="02050604050505020204" pitchFamily="18" charset="0"/>
              </a:rPr>
              <a:t>      </a:t>
            </a:r>
            <a:r>
              <a:rPr lang="en-US" sz="2000" dirty="0">
                <a:latin typeface="Bookman Old Style" panose="02050604050505020204" pitchFamily="18" charset="0"/>
              </a:rPr>
              <a:t>Ensures safer borrowing and return process between users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76337" y="-9340"/>
            <a:ext cx="9175750" cy="637609"/>
          </a:xfrm>
          <a:prstGeom prst="rect">
            <a:avLst/>
          </a:prstGeom>
        </p:spPr>
        <p:txBody>
          <a:bodyPr vert="horz" wrap="square" lIns="0" tIns="204723" rIns="0" bIns="0" rtlCol="0">
            <a:spAutoFit/>
          </a:bodyPr>
          <a:lstStyle/>
          <a:p>
            <a:pPr marL="116205">
              <a:lnSpc>
                <a:spcPct val="100000"/>
              </a:lnSpc>
              <a:spcBef>
                <a:spcPts val="100"/>
              </a:spcBef>
            </a:pPr>
            <a:r>
              <a:rPr spc="-10" dirty="0"/>
              <a:t>Proposed</a:t>
            </a:r>
            <a:r>
              <a:rPr spc="-80" dirty="0"/>
              <a:t> </a:t>
            </a:r>
            <a:r>
              <a:rPr spc="-20" dirty="0"/>
              <a:t>Architecture</a:t>
            </a:r>
            <a:r>
              <a:rPr spc="-80" dirty="0"/>
              <a:t> </a:t>
            </a:r>
            <a:r>
              <a:rPr dirty="0"/>
              <a:t>diagram</a:t>
            </a:r>
            <a:r>
              <a:rPr spc="-80" dirty="0"/>
              <a:t> </a:t>
            </a:r>
            <a:endParaRPr spc="-50" dirty="0"/>
          </a:p>
        </p:txBody>
      </p:sp>
      <p:sp>
        <p:nvSpPr>
          <p:cNvPr id="5" name="object 5"/>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6" name="object 6"/>
          <p:cNvSpPr txBox="1">
            <a:spLocks noGrp="1"/>
          </p:cNvSpPr>
          <p:nvPr>
            <p:ph type="sldNum" sz="quarter" idx="7"/>
          </p:nvPr>
        </p:nvSpPr>
        <p:spPr>
          <a:prstGeom prst="rect">
            <a:avLst/>
          </a:prstGeom>
        </p:spPr>
        <p:txBody>
          <a:bodyPr vert="horz" wrap="square" lIns="0" tIns="1905" rIns="0" bIns="0" rtlCol="0">
            <a:spAutoFit/>
          </a:bodyPr>
          <a:lstStyle/>
          <a:p>
            <a:pPr marL="154940">
              <a:lnSpc>
                <a:spcPct val="100000"/>
              </a:lnSpc>
              <a:spcBef>
                <a:spcPts val="15"/>
              </a:spcBef>
            </a:pPr>
            <a:fld id="{81D60167-4931-47E6-BA6A-407CBD079E47}" type="slidenum">
              <a:rPr spc="45" dirty="0"/>
              <a:t>9</a:t>
            </a:fld>
            <a:endParaRPr spc="45" dirty="0"/>
          </a:p>
        </p:txBody>
      </p:sp>
      <p:pic>
        <p:nvPicPr>
          <p:cNvPr id="7" name="Picture 6">
            <a:extLst>
              <a:ext uri="{FF2B5EF4-FFF2-40B4-BE49-F238E27FC236}">
                <a16:creationId xmlns:a16="http://schemas.microsoft.com/office/drawing/2014/main" id="{1530D140-FA31-26E0-9E28-55297E2CE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893" y="979691"/>
            <a:ext cx="11618614" cy="52424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21894" rIns="0" bIns="0" rtlCol="0">
            <a:spAutoFit/>
          </a:bodyPr>
          <a:lstStyle/>
          <a:p>
            <a:pPr marL="38100">
              <a:lnSpc>
                <a:spcPct val="100000"/>
              </a:lnSpc>
              <a:spcBef>
                <a:spcPts val="100"/>
              </a:spcBef>
            </a:pPr>
            <a:r>
              <a:rPr sz="2600" dirty="0"/>
              <a:t>Proposed</a:t>
            </a:r>
            <a:r>
              <a:rPr sz="2600" spc="-75" dirty="0"/>
              <a:t> </a:t>
            </a:r>
            <a:r>
              <a:rPr sz="2600" dirty="0"/>
              <a:t>Algorithm</a:t>
            </a:r>
            <a:r>
              <a:rPr sz="2600" spc="-75" dirty="0"/>
              <a:t> </a:t>
            </a:r>
            <a:r>
              <a:rPr sz="2600" spc="-10" dirty="0"/>
              <a:t>Explanation</a:t>
            </a:r>
            <a:endParaRPr sz="2600" dirty="0"/>
          </a:p>
        </p:txBody>
      </p:sp>
      <p:sp>
        <p:nvSpPr>
          <p:cNvPr id="4" name="object 4"/>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5" name="object 5"/>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70" dirty="0"/>
              <a:t>10</a:t>
            </a:fld>
            <a:endParaRPr spc="70" dirty="0"/>
          </a:p>
        </p:txBody>
      </p:sp>
      <p:sp>
        <p:nvSpPr>
          <p:cNvPr id="8" name="TextBox 7">
            <a:extLst>
              <a:ext uri="{FF2B5EF4-FFF2-40B4-BE49-F238E27FC236}">
                <a16:creationId xmlns:a16="http://schemas.microsoft.com/office/drawing/2014/main" id="{43C4FFEC-C9C0-13EC-2896-6AFDC736FEED}"/>
              </a:ext>
            </a:extLst>
          </p:cNvPr>
          <p:cNvSpPr txBox="1"/>
          <p:nvPr/>
        </p:nvSpPr>
        <p:spPr>
          <a:xfrm>
            <a:off x="245147" y="1305341"/>
            <a:ext cx="11701706" cy="4708981"/>
          </a:xfrm>
          <a:prstGeom prst="rect">
            <a:avLst/>
          </a:prstGeom>
          <a:noFill/>
        </p:spPr>
        <p:txBody>
          <a:bodyPr wrap="square">
            <a:spAutoFit/>
          </a:bodyPr>
          <a:lstStyle/>
          <a:p>
            <a:pPr algn="l"/>
            <a:r>
              <a:rPr lang="en-IN" sz="2000" b="1" i="0" u="none" strike="noStrike" dirty="0">
                <a:solidFill>
                  <a:srgbClr val="000000"/>
                </a:solidFill>
                <a:effectLst/>
                <a:latin typeface="Bookman Old Style" panose="02050604050505020204" pitchFamily="18" charset="0"/>
              </a:rPr>
              <a:t>Step 1: User Authentication </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User registers or logs into the system.</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System validates user credentials.</a:t>
            </a:r>
          </a:p>
          <a:p>
            <a:pPr algn="l">
              <a:buNone/>
            </a:pPr>
            <a:r>
              <a:rPr lang="en-IN" sz="2000" b="0" i="0" u="none" strike="noStrike" dirty="0">
                <a:solidFill>
                  <a:srgbClr val="000000"/>
                </a:solidFill>
                <a:effectLst/>
                <a:latin typeface="Bookman Old Style" panose="02050604050505020204" pitchFamily="18" charset="0"/>
              </a:rPr>
              <a:t> </a:t>
            </a:r>
          </a:p>
          <a:p>
            <a:pPr algn="l"/>
            <a:r>
              <a:rPr lang="en-IN" sz="2000" b="1" i="0" u="none" strike="noStrike" dirty="0">
                <a:solidFill>
                  <a:srgbClr val="000000"/>
                </a:solidFill>
                <a:effectLst/>
                <a:latin typeface="Bookman Old Style" panose="02050604050505020204" pitchFamily="18" charset="0"/>
              </a:rPr>
              <a:t>Step 2: Tool Search &amp; Selection </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User searches for required tools.</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System displays available tools.</a:t>
            </a:r>
            <a:br>
              <a:rPr lang="en-IN" sz="2000" b="0" i="0" u="none" strike="noStrike" dirty="0">
                <a:solidFill>
                  <a:srgbClr val="000000"/>
                </a:solidFill>
                <a:effectLst/>
                <a:latin typeface="Bookman Old Style" panose="02050604050505020204" pitchFamily="18" charset="0"/>
              </a:rPr>
            </a:br>
            <a:endParaRPr lang="en-IN" sz="2000" b="0" i="0" u="none" strike="noStrike" dirty="0">
              <a:solidFill>
                <a:srgbClr val="000000"/>
              </a:solidFill>
              <a:effectLst/>
              <a:latin typeface="Bookman Old Style" panose="02050604050505020204" pitchFamily="18" charset="0"/>
            </a:endParaRPr>
          </a:p>
          <a:p>
            <a:pPr algn="l"/>
            <a:r>
              <a:rPr lang="en-IN" sz="2000" b="1" i="0" u="none" strike="noStrike" dirty="0">
                <a:solidFill>
                  <a:srgbClr val="000000"/>
                </a:solidFill>
                <a:effectLst/>
                <a:latin typeface="Bookman Old Style" panose="02050604050505020204" pitchFamily="18" charset="0"/>
              </a:rPr>
              <a:t>Step 3: Request Submission </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User selects a tool and sends a borrow request.</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Request is stored in the system.</a:t>
            </a:r>
          </a:p>
          <a:p>
            <a:pPr algn="l">
              <a:buNone/>
            </a:pPr>
            <a:r>
              <a:rPr lang="en-IN" sz="2000" b="0" i="0" u="none" strike="noStrike" dirty="0">
                <a:solidFill>
                  <a:srgbClr val="000000"/>
                </a:solidFill>
                <a:effectLst/>
                <a:latin typeface="Bookman Old Style" panose="02050604050505020204" pitchFamily="18" charset="0"/>
              </a:rPr>
              <a:t> </a:t>
            </a:r>
          </a:p>
          <a:p>
            <a:pPr algn="l"/>
            <a:r>
              <a:rPr lang="en-IN" sz="2000" b="1" i="0" u="none" strike="noStrike" dirty="0">
                <a:solidFill>
                  <a:srgbClr val="000000"/>
                </a:solidFill>
                <a:effectLst/>
                <a:latin typeface="Bookman Old Style" panose="02050604050505020204" pitchFamily="18" charset="0"/>
              </a:rPr>
              <a:t>Step 4: Owner Approval Process </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Tool owner reviews the request.</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Owner approves or rejects the request.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760B3-3715-041C-1E5B-D6929336F431}"/>
              </a:ext>
            </a:extLst>
          </p:cNvPr>
          <p:cNvSpPr>
            <a:spLocks noGrp="1"/>
          </p:cNvSpPr>
          <p:nvPr>
            <p:ph type="title"/>
          </p:nvPr>
        </p:nvSpPr>
        <p:spPr>
          <a:xfrm>
            <a:off x="1143000" y="228600"/>
            <a:ext cx="9175750" cy="430887"/>
          </a:xfrm>
        </p:spPr>
        <p:txBody>
          <a:bodyPr/>
          <a:lstStyle/>
          <a:p>
            <a:r>
              <a:rPr lang="en-US" dirty="0"/>
              <a:t>Proposed</a:t>
            </a:r>
            <a:r>
              <a:rPr lang="en-US" spc="-75" dirty="0"/>
              <a:t> </a:t>
            </a:r>
            <a:r>
              <a:rPr lang="en-US" dirty="0"/>
              <a:t>Algorithm</a:t>
            </a:r>
            <a:r>
              <a:rPr lang="en-US" spc="-75" dirty="0"/>
              <a:t> </a:t>
            </a:r>
            <a:r>
              <a:rPr lang="en-US" spc="-10" dirty="0"/>
              <a:t>Explanation</a:t>
            </a:r>
            <a:endParaRPr lang="en-US" dirty="0"/>
          </a:p>
        </p:txBody>
      </p:sp>
      <p:sp>
        <p:nvSpPr>
          <p:cNvPr id="5" name="TextBox 4">
            <a:extLst>
              <a:ext uri="{FF2B5EF4-FFF2-40B4-BE49-F238E27FC236}">
                <a16:creationId xmlns:a16="http://schemas.microsoft.com/office/drawing/2014/main" id="{AC0FA65D-A6AF-9E8B-68BA-A8EC77B1F578}"/>
              </a:ext>
            </a:extLst>
          </p:cNvPr>
          <p:cNvSpPr txBox="1"/>
          <p:nvPr/>
        </p:nvSpPr>
        <p:spPr>
          <a:xfrm>
            <a:off x="381001" y="1518220"/>
            <a:ext cx="10821050" cy="3580467"/>
          </a:xfrm>
          <a:prstGeom prst="rect">
            <a:avLst/>
          </a:prstGeom>
          <a:noFill/>
        </p:spPr>
        <p:txBody>
          <a:bodyPr wrap="square">
            <a:spAutoFit/>
          </a:bodyPr>
          <a:lstStyle/>
          <a:p>
            <a:pPr algn="l">
              <a:spcBef>
                <a:spcPts val="225"/>
              </a:spcBef>
              <a:spcAft>
                <a:spcPts val="225"/>
              </a:spcAft>
            </a:pPr>
            <a:r>
              <a:rPr lang="en-IN" sz="2000" b="1" i="0" u="none" strike="noStrike" dirty="0">
                <a:solidFill>
                  <a:srgbClr val="000000"/>
                </a:solidFill>
                <a:effectLst/>
                <a:latin typeface="Bookman Old Style" panose="02050604050505020204" pitchFamily="18" charset="0"/>
              </a:rPr>
              <a:t>Step 5: Notification Handling</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System notifies user about request status.</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User receives approval or rejection alert.</a:t>
            </a:r>
            <a:br>
              <a:rPr lang="en-IN" sz="2000" b="0" i="0" u="none" strike="noStrike" dirty="0">
                <a:solidFill>
                  <a:srgbClr val="000000"/>
                </a:solidFill>
                <a:effectLst/>
                <a:latin typeface="Bookman Old Style" panose="02050604050505020204" pitchFamily="18" charset="0"/>
              </a:rPr>
            </a:br>
            <a:endParaRPr lang="en-IN" sz="2000" b="0" i="0" u="none" strike="noStrike" dirty="0">
              <a:solidFill>
                <a:srgbClr val="000000"/>
              </a:solidFill>
              <a:effectLst/>
              <a:latin typeface="Bookman Old Style" panose="02050604050505020204" pitchFamily="18" charset="0"/>
            </a:endParaRPr>
          </a:p>
          <a:p>
            <a:pPr algn="l">
              <a:spcBef>
                <a:spcPts val="225"/>
              </a:spcBef>
              <a:spcAft>
                <a:spcPts val="225"/>
              </a:spcAft>
            </a:pPr>
            <a:r>
              <a:rPr lang="en-IN" sz="2000" b="1" i="0" u="none" strike="noStrike" dirty="0">
                <a:solidFill>
                  <a:srgbClr val="000000"/>
                </a:solidFill>
                <a:effectLst/>
                <a:latin typeface="Bookman Old Style" panose="02050604050505020204" pitchFamily="18" charset="0"/>
              </a:rPr>
              <a:t>Step 6: Tool Transaction</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If approved, tool is handed over to user.</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User uses the tool and returns it.</a:t>
            </a:r>
            <a:br>
              <a:rPr lang="en-IN" sz="2000" b="0" i="0" u="none" strike="noStrike" dirty="0">
                <a:solidFill>
                  <a:srgbClr val="000000"/>
                </a:solidFill>
                <a:effectLst/>
                <a:latin typeface="Bookman Old Style" panose="02050604050505020204" pitchFamily="18" charset="0"/>
              </a:rPr>
            </a:br>
            <a:endParaRPr lang="en-IN" sz="2000" b="0" i="0" u="none" strike="noStrike" dirty="0">
              <a:solidFill>
                <a:srgbClr val="000000"/>
              </a:solidFill>
              <a:effectLst/>
              <a:latin typeface="Bookman Old Style" panose="02050604050505020204" pitchFamily="18" charset="0"/>
            </a:endParaRPr>
          </a:p>
          <a:p>
            <a:pPr algn="l">
              <a:spcBef>
                <a:spcPts val="225"/>
              </a:spcBef>
              <a:spcAft>
                <a:spcPts val="225"/>
              </a:spcAft>
            </a:pPr>
            <a:r>
              <a:rPr lang="en-IN" sz="2000" b="1" i="0" u="none" strike="noStrike" dirty="0">
                <a:solidFill>
                  <a:srgbClr val="000000"/>
                </a:solidFill>
                <a:effectLst/>
                <a:latin typeface="Bookman Old Style" panose="02050604050505020204" pitchFamily="18" charset="0"/>
              </a:rPr>
              <a:t>Step 7: Completion &amp; Feedback</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System updates transaction status.</a:t>
            </a:r>
            <a:br>
              <a:rPr lang="en-IN" sz="2000" b="0" i="0" u="none" strike="noStrike" dirty="0">
                <a:solidFill>
                  <a:srgbClr val="000000"/>
                </a:solidFill>
                <a:effectLst/>
                <a:latin typeface="Bookman Old Style" panose="02050604050505020204" pitchFamily="18" charset="0"/>
              </a:rPr>
            </a:br>
            <a:r>
              <a:rPr lang="en-IN" sz="2000" b="0" i="0" u="none" strike="noStrike" dirty="0">
                <a:solidFill>
                  <a:srgbClr val="000000"/>
                </a:solidFill>
                <a:effectLst/>
                <a:latin typeface="Bookman Old Style" panose="02050604050505020204" pitchFamily="18" charset="0"/>
              </a:rPr>
              <a:t>User provides rating and feedback.</a:t>
            </a:r>
          </a:p>
        </p:txBody>
      </p:sp>
    </p:spTree>
    <p:extLst>
      <p:ext uri="{BB962C8B-B14F-4D97-AF65-F5344CB8AC3E}">
        <p14:creationId xmlns:p14="http://schemas.microsoft.com/office/powerpoint/2010/main" val="3719184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04723" rIns="0" bIns="0" rtlCol="0">
            <a:spAutoFit/>
          </a:bodyPr>
          <a:lstStyle/>
          <a:p>
            <a:pPr marL="38100">
              <a:lnSpc>
                <a:spcPct val="100000"/>
              </a:lnSpc>
              <a:spcBef>
                <a:spcPts val="100"/>
              </a:spcBef>
            </a:pPr>
            <a:r>
              <a:rPr spc="204" dirty="0"/>
              <a:t>UML</a:t>
            </a:r>
            <a:r>
              <a:rPr spc="335" dirty="0"/>
              <a:t> </a:t>
            </a:r>
            <a:r>
              <a:rPr spc="140" dirty="0"/>
              <a:t>Diagram</a:t>
            </a:r>
            <a:r>
              <a:rPr spc="340" dirty="0"/>
              <a:t> </a:t>
            </a:r>
            <a:r>
              <a:rPr spc="50" dirty="0"/>
              <a:t>(Use</a:t>
            </a:r>
            <a:r>
              <a:rPr spc="335" dirty="0"/>
              <a:t> </a:t>
            </a:r>
            <a:r>
              <a:rPr spc="215" dirty="0"/>
              <a:t>Case</a:t>
            </a:r>
            <a:r>
              <a:rPr spc="340" dirty="0"/>
              <a:t> </a:t>
            </a:r>
            <a:r>
              <a:rPr spc="75" dirty="0"/>
              <a:t>Diagram)</a:t>
            </a:r>
          </a:p>
        </p:txBody>
      </p:sp>
      <p:sp>
        <p:nvSpPr>
          <p:cNvPr id="4" name="object 4"/>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5" name="object 5"/>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70" dirty="0"/>
              <a:t>12</a:t>
            </a:fld>
            <a:endParaRPr spc="70" dirty="0"/>
          </a:p>
        </p:txBody>
      </p:sp>
      <p:pic>
        <p:nvPicPr>
          <p:cNvPr id="7" name="Picture 6">
            <a:extLst>
              <a:ext uri="{FF2B5EF4-FFF2-40B4-BE49-F238E27FC236}">
                <a16:creationId xmlns:a16="http://schemas.microsoft.com/office/drawing/2014/main" id="{C54638E3-22FB-99B6-8D59-D02B75CCF82B}"/>
              </a:ext>
            </a:extLst>
          </p:cNvPr>
          <p:cNvPicPr>
            <a:picLocks noChangeAspect="1"/>
          </p:cNvPicPr>
          <p:nvPr/>
        </p:nvPicPr>
        <p:blipFill>
          <a:blip r:embed="rId2"/>
          <a:srcRect/>
          <a:stretch/>
        </p:blipFill>
        <p:spPr>
          <a:xfrm>
            <a:off x="426224" y="991760"/>
            <a:ext cx="11056675" cy="510308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04723" rIns="0" bIns="0" rtlCol="0">
            <a:spAutoFit/>
          </a:bodyPr>
          <a:lstStyle/>
          <a:p>
            <a:pPr marL="38100">
              <a:lnSpc>
                <a:spcPct val="100000"/>
              </a:lnSpc>
              <a:spcBef>
                <a:spcPts val="100"/>
              </a:spcBef>
            </a:pPr>
            <a:r>
              <a:rPr spc="204" dirty="0"/>
              <a:t>UML</a:t>
            </a:r>
            <a:r>
              <a:rPr spc="335" dirty="0"/>
              <a:t> </a:t>
            </a:r>
            <a:r>
              <a:rPr spc="140" dirty="0"/>
              <a:t>Diagram</a:t>
            </a:r>
            <a:r>
              <a:rPr spc="335" dirty="0"/>
              <a:t> </a:t>
            </a:r>
            <a:r>
              <a:rPr spc="155" dirty="0"/>
              <a:t>(Activity</a:t>
            </a:r>
            <a:r>
              <a:rPr spc="335" dirty="0"/>
              <a:t> </a:t>
            </a:r>
            <a:r>
              <a:rPr spc="75" dirty="0"/>
              <a:t>Diagram)</a:t>
            </a:r>
          </a:p>
        </p:txBody>
      </p:sp>
      <p:sp>
        <p:nvSpPr>
          <p:cNvPr id="4" name="object 4"/>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5" name="object 5"/>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70" dirty="0"/>
              <a:t>13</a:t>
            </a:fld>
            <a:endParaRPr spc="70" dirty="0"/>
          </a:p>
        </p:txBody>
      </p:sp>
      <p:pic>
        <p:nvPicPr>
          <p:cNvPr id="7" name="Picture 6">
            <a:extLst>
              <a:ext uri="{FF2B5EF4-FFF2-40B4-BE49-F238E27FC236}">
                <a16:creationId xmlns:a16="http://schemas.microsoft.com/office/drawing/2014/main" id="{B1107093-CCBF-A8F5-F710-E9350378AF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0489" y="940057"/>
            <a:ext cx="9453041" cy="513028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04723" rIns="0" bIns="0" rtlCol="0">
            <a:spAutoFit/>
          </a:bodyPr>
          <a:lstStyle/>
          <a:p>
            <a:pPr marL="38100">
              <a:lnSpc>
                <a:spcPct val="100000"/>
              </a:lnSpc>
              <a:spcBef>
                <a:spcPts val="100"/>
              </a:spcBef>
            </a:pPr>
            <a:r>
              <a:rPr spc="204" dirty="0"/>
              <a:t>UML</a:t>
            </a:r>
            <a:r>
              <a:rPr spc="345" dirty="0"/>
              <a:t> </a:t>
            </a:r>
            <a:r>
              <a:rPr spc="140" dirty="0"/>
              <a:t>Diagram</a:t>
            </a:r>
            <a:r>
              <a:rPr spc="345" dirty="0"/>
              <a:t> </a:t>
            </a:r>
            <a:r>
              <a:rPr spc="140" dirty="0"/>
              <a:t>(Sequence</a:t>
            </a:r>
            <a:r>
              <a:rPr spc="350" dirty="0"/>
              <a:t> </a:t>
            </a:r>
            <a:r>
              <a:rPr spc="75" dirty="0"/>
              <a:t>Diagram)</a:t>
            </a:r>
          </a:p>
        </p:txBody>
      </p:sp>
      <p:sp>
        <p:nvSpPr>
          <p:cNvPr id="4" name="object 4"/>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5" name="object 5"/>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70" dirty="0"/>
              <a:t>14</a:t>
            </a:fld>
            <a:endParaRPr spc="70" dirty="0"/>
          </a:p>
        </p:txBody>
      </p:sp>
      <p:pic>
        <p:nvPicPr>
          <p:cNvPr id="7" name="Picture 6">
            <a:extLst>
              <a:ext uri="{FF2B5EF4-FFF2-40B4-BE49-F238E27FC236}">
                <a16:creationId xmlns:a16="http://schemas.microsoft.com/office/drawing/2014/main" id="{5B58FC9A-39CA-C537-B448-E57E99130F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090" y="925625"/>
            <a:ext cx="10566573" cy="534765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04723" rIns="0" bIns="0" rtlCol="0">
            <a:spAutoFit/>
          </a:bodyPr>
          <a:lstStyle/>
          <a:p>
            <a:pPr marL="38100">
              <a:lnSpc>
                <a:spcPct val="100000"/>
              </a:lnSpc>
              <a:spcBef>
                <a:spcPts val="100"/>
              </a:spcBef>
            </a:pPr>
            <a:r>
              <a:rPr spc="204" dirty="0"/>
              <a:t>UML</a:t>
            </a:r>
            <a:r>
              <a:rPr spc="340" dirty="0"/>
              <a:t> </a:t>
            </a:r>
            <a:r>
              <a:rPr spc="140" dirty="0"/>
              <a:t>Diagram</a:t>
            </a:r>
            <a:r>
              <a:rPr spc="340" dirty="0"/>
              <a:t> </a:t>
            </a:r>
            <a:r>
              <a:rPr spc="120" dirty="0"/>
              <a:t>(Class</a:t>
            </a:r>
            <a:r>
              <a:rPr spc="345" dirty="0"/>
              <a:t> </a:t>
            </a:r>
            <a:r>
              <a:rPr spc="75" dirty="0"/>
              <a:t>Diagram)</a:t>
            </a:r>
          </a:p>
        </p:txBody>
      </p:sp>
      <p:sp>
        <p:nvSpPr>
          <p:cNvPr id="4" name="object 4"/>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5" name="object 5"/>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70" dirty="0"/>
              <a:t>15</a:t>
            </a:fld>
            <a:endParaRPr spc="70" dirty="0"/>
          </a:p>
        </p:txBody>
      </p:sp>
      <p:pic>
        <p:nvPicPr>
          <p:cNvPr id="7" name="Picture 6">
            <a:extLst>
              <a:ext uri="{FF2B5EF4-FFF2-40B4-BE49-F238E27FC236}">
                <a16:creationId xmlns:a16="http://schemas.microsoft.com/office/drawing/2014/main" id="{8066AD44-33DF-C609-4A91-0A298938C4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1" y="1143000"/>
            <a:ext cx="11353799" cy="51029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76337" y="-9340"/>
            <a:ext cx="9175750" cy="624170"/>
          </a:xfrm>
          <a:prstGeom prst="rect">
            <a:avLst/>
          </a:prstGeom>
        </p:spPr>
        <p:txBody>
          <a:bodyPr vert="horz" wrap="square" lIns="0" tIns="221894" rIns="0" bIns="0" rtlCol="0">
            <a:spAutoFit/>
          </a:bodyPr>
          <a:lstStyle/>
          <a:p>
            <a:pPr marL="38100">
              <a:lnSpc>
                <a:spcPct val="100000"/>
              </a:lnSpc>
              <a:spcBef>
                <a:spcPts val="100"/>
              </a:spcBef>
            </a:pPr>
            <a:r>
              <a:rPr sz="2600" dirty="0"/>
              <a:t>Proposed</a:t>
            </a:r>
            <a:r>
              <a:rPr sz="2600" spc="-60" dirty="0"/>
              <a:t> </a:t>
            </a:r>
            <a:r>
              <a:rPr sz="2600" dirty="0"/>
              <a:t>Flow</a:t>
            </a:r>
            <a:r>
              <a:rPr sz="2600" spc="-60" dirty="0"/>
              <a:t> </a:t>
            </a:r>
            <a:r>
              <a:rPr sz="2600" dirty="0"/>
              <a:t>diagram</a:t>
            </a:r>
            <a:r>
              <a:rPr sz="2600" spc="-60" dirty="0"/>
              <a:t> </a:t>
            </a:r>
            <a:endParaRPr sz="2600" dirty="0"/>
          </a:p>
        </p:txBody>
      </p:sp>
      <p:sp>
        <p:nvSpPr>
          <p:cNvPr id="5" name="object 5"/>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6" name="object 6"/>
          <p:cNvSpPr txBox="1">
            <a:spLocks noGrp="1"/>
          </p:cNvSpPr>
          <p:nvPr>
            <p:ph type="sldNum" sz="quarter" idx="7"/>
          </p:nvPr>
        </p:nvSpPr>
        <p:spPr>
          <a:prstGeom prst="rect">
            <a:avLst/>
          </a:prstGeom>
        </p:spPr>
        <p:txBody>
          <a:bodyPr vert="horz" wrap="square" lIns="0" tIns="1905" rIns="0" bIns="0" rtlCol="0">
            <a:spAutoFit/>
          </a:bodyPr>
          <a:lstStyle/>
          <a:p>
            <a:pPr marL="154940">
              <a:lnSpc>
                <a:spcPct val="100000"/>
              </a:lnSpc>
              <a:spcBef>
                <a:spcPts val="15"/>
              </a:spcBef>
            </a:pPr>
            <a:fld id="{81D60167-4931-47E6-BA6A-407CBD079E47}" type="slidenum">
              <a:rPr spc="45" dirty="0"/>
              <a:t>16</a:t>
            </a:fld>
            <a:endParaRPr spc="45" dirty="0"/>
          </a:p>
        </p:txBody>
      </p:sp>
      <p:pic>
        <p:nvPicPr>
          <p:cNvPr id="8" name="Picture 7">
            <a:extLst>
              <a:ext uri="{FF2B5EF4-FFF2-40B4-BE49-F238E27FC236}">
                <a16:creationId xmlns:a16="http://schemas.microsoft.com/office/drawing/2014/main" id="{CBC8F545-7C97-AF9C-0480-0F28C98FD6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00" y="927547"/>
            <a:ext cx="11841492" cy="516845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87B92-1F90-9140-37C4-EE4D4493C242}"/>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8D74C7AB-66AE-DE7C-FDB3-87DA7F7A380C}"/>
              </a:ext>
            </a:extLst>
          </p:cNvPr>
          <p:cNvSpPr txBox="1"/>
          <p:nvPr/>
        </p:nvSpPr>
        <p:spPr>
          <a:xfrm>
            <a:off x="152400" y="914400"/>
            <a:ext cx="11810999" cy="5632311"/>
          </a:xfrm>
          <a:prstGeom prst="rect">
            <a:avLst/>
          </a:prstGeom>
          <a:noFill/>
        </p:spPr>
        <p:txBody>
          <a:bodyPr wrap="square" rtlCol="0">
            <a:spAutoFit/>
          </a:bodyPr>
          <a:lstStyle/>
          <a:p>
            <a:r>
              <a:rPr lang="en-US" sz="2000" b="1" dirty="0">
                <a:latin typeface="Bookman Old Style" panose="02050604050505020204" pitchFamily="18" charset="0"/>
              </a:rPr>
              <a:t>Implementation screenshots :</a:t>
            </a: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p:txBody>
      </p:sp>
      <p:pic>
        <p:nvPicPr>
          <p:cNvPr id="5" name="Picture 4">
            <a:extLst>
              <a:ext uri="{FF2B5EF4-FFF2-40B4-BE49-F238E27FC236}">
                <a16:creationId xmlns:a16="http://schemas.microsoft.com/office/drawing/2014/main" id="{56D0651E-EB53-A61F-6999-4F49F2B499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877" y="1524000"/>
            <a:ext cx="11658600" cy="46481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75487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4F9D4-886A-8B04-3A73-337DE59F3C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D7B52-2915-7DC2-6224-210040563047}"/>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F973D784-ABC0-290E-4EA2-1225849E06BD}"/>
              </a:ext>
            </a:extLst>
          </p:cNvPr>
          <p:cNvSpPr txBox="1"/>
          <p:nvPr/>
        </p:nvSpPr>
        <p:spPr>
          <a:xfrm>
            <a:off x="0" y="1119808"/>
            <a:ext cx="11963399" cy="5324535"/>
          </a:xfrm>
          <a:prstGeom prst="rect">
            <a:avLst/>
          </a:prstGeom>
          <a:noFill/>
        </p:spPr>
        <p:txBody>
          <a:bodyPr wrap="square" rtlCol="0">
            <a:spAutoFit/>
          </a:bodyPr>
          <a:lstStyle/>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a:p>
            <a:endParaRPr lang="en-US" sz="2000" b="1" dirty="0">
              <a:latin typeface="Bookman Old Style" panose="02050604050505020204" pitchFamily="18" charset="0"/>
            </a:endParaRPr>
          </a:p>
        </p:txBody>
      </p:sp>
      <p:pic>
        <p:nvPicPr>
          <p:cNvPr id="6" name="Picture 5">
            <a:extLst>
              <a:ext uri="{FF2B5EF4-FFF2-40B4-BE49-F238E27FC236}">
                <a16:creationId xmlns:a16="http://schemas.microsoft.com/office/drawing/2014/main" id="{928656B6-90DE-3B64-5CDE-F9816BEFC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4929" y="1119808"/>
            <a:ext cx="4112378" cy="50986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12011A5A-C814-CBEE-F37F-70928144EC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945" y="1145049"/>
            <a:ext cx="5039150" cy="50481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23654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9E7DC-0F63-FEC6-FDE6-61F588AF7F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3B7E0-804C-170E-6D83-AF0ADC832FBB}"/>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pic>
        <p:nvPicPr>
          <p:cNvPr id="5" name="Picture 4">
            <a:extLst>
              <a:ext uri="{FF2B5EF4-FFF2-40B4-BE49-F238E27FC236}">
                <a16:creationId xmlns:a16="http://schemas.microsoft.com/office/drawing/2014/main" id="{3CF495B7-BDEC-5A7E-3991-B46256767F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1088746"/>
            <a:ext cx="5920489" cy="49310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52140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9B09-A4DA-9220-E1DA-ACA097572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07126-FDBF-29AE-40EF-4AC51E9EAECE}"/>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4AAF303F-57B0-014D-322D-CBD9C0C6BAEE}"/>
              </a:ext>
            </a:extLst>
          </p:cNvPr>
          <p:cNvSpPr txBox="1"/>
          <p:nvPr/>
        </p:nvSpPr>
        <p:spPr>
          <a:xfrm>
            <a:off x="152400" y="914400"/>
            <a:ext cx="11810999" cy="5355312"/>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8" name="Picture 7">
            <a:extLst>
              <a:ext uri="{FF2B5EF4-FFF2-40B4-BE49-F238E27FC236}">
                <a16:creationId xmlns:a16="http://schemas.microsoft.com/office/drawing/2014/main" id="{AC58F4C5-4D22-9A3B-D7D9-6E6EFBF516DC}"/>
              </a:ext>
            </a:extLst>
          </p:cNvPr>
          <p:cNvPicPr>
            <a:picLocks noChangeAspect="1"/>
          </p:cNvPicPr>
          <p:nvPr/>
        </p:nvPicPr>
        <p:blipFill>
          <a:blip r:embed="rId2"/>
          <a:stretch>
            <a:fillRect/>
          </a:stretch>
        </p:blipFill>
        <p:spPr>
          <a:xfrm>
            <a:off x="190501" y="1077920"/>
            <a:ext cx="11849099" cy="50410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10269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6F856-5046-90AC-E5B2-07E1BCAA6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CC8A7F-E560-9262-267D-E39CF0C7B8D8}"/>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AD9EFC4C-B6C5-325A-AA39-0A5ED0D2E178}"/>
              </a:ext>
            </a:extLst>
          </p:cNvPr>
          <p:cNvSpPr txBox="1"/>
          <p:nvPr/>
        </p:nvSpPr>
        <p:spPr>
          <a:xfrm>
            <a:off x="152400" y="914400"/>
            <a:ext cx="11810999" cy="5355312"/>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5" name="Picture 4">
            <a:extLst>
              <a:ext uri="{FF2B5EF4-FFF2-40B4-BE49-F238E27FC236}">
                <a16:creationId xmlns:a16="http://schemas.microsoft.com/office/drawing/2014/main" id="{6A97E023-658A-7639-45E2-01B51E1ED281}"/>
              </a:ext>
            </a:extLst>
          </p:cNvPr>
          <p:cNvPicPr>
            <a:picLocks noChangeAspect="1"/>
          </p:cNvPicPr>
          <p:nvPr/>
        </p:nvPicPr>
        <p:blipFill>
          <a:blip r:embed="rId2"/>
          <a:stretch>
            <a:fillRect/>
          </a:stretch>
        </p:blipFill>
        <p:spPr>
          <a:xfrm>
            <a:off x="304801" y="1376066"/>
            <a:ext cx="11506200" cy="48781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52271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56916-EDEC-6D16-78A6-9436097CC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5B3A7-FC9A-5CD7-DFA8-C43D76F71A16}"/>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392B415C-6578-B43D-5AAB-C4D6E70351A4}"/>
              </a:ext>
            </a:extLst>
          </p:cNvPr>
          <p:cNvSpPr txBox="1"/>
          <p:nvPr/>
        </p:nvSpPr>
        <p:spPr>
          <a:xfrm>
            <a:off x="152400" y="893088"/>
            <a:ext cx="11810999" cy="5355312"/>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6" name="Picture 5">
            <a:extLst>
              <a:ext uri="{FF2B5EF4-FFF2-40B4-BE49-F238E27FC236}">
                <a16:creationId xmlns:a16="http://schemas.microsoft.com/office/drawing/2014/main" id="{579525F8-81CD-8163-5F29-29DFF2AB1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264" y="1079387"/>
            <a:ext cx="11474736" cy="51386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55179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ECECE-4C66-D2F5-02C8-1E304C7EA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E8FD18-C41C-DF7F-D9C3-478D6D9465FA}"/>
              </a:ext>
            </a:extLst>
          </p:cNvPr>
          <p:cNvSpPr>
            <a:spLocks noGrp="1"/>
          </p:cNvSpPr>
          <p:nvPr>
            <p:ph type="title"/>
          </p:nvPr>
        </p:nvSpPr>
        <p:spPr>
          <a:xfrm>
            <a:off x="1143000" y="1524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6054E628-F62F-A2EC-F34E-6A3988579C20}"/>
              </a:ext>
            </a:extLst>
          </p:cNvPr>
          <p:cNvSpPr txBox="1"/>
          <p:nvPr/>
        </p:nvSpPr>
        <p:spPr>
          <a:xfrm>
            <a:off x="152400" y="893088"/>
            <a:ext cx="11810999" cy="5355312"/>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5" name="Picture 4">
            <a:extLst>
              <a:ext uri="{FF2B5EF4-FFF2-40B4-BE49-F238E27FC236}">
                <a16:creationId xmlns:a16="http://schemas.microsoft.com/office/drawing/2014/main" id="{8EF460D7-4EB1-C145-75C4-C9A3DFB1D3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9" y="1089590"/>
            <a:ext cx="11506199" cy="516372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03758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5E5C4-3926-BD3E-6FD6-4C2345A5C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E0B0A-144A-77B5-2F34-543BC57DAE54}"/>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2D8550A2-12E1-4219-104B-FC7B94FBD8A8}"/>
              </a:ext>
            </a:extLst>
          </p:cNvPr>
          <p:cNvSpPr txBox="1"/>
          <p:nvPr/>
        </p:nvSpPr>
        <p:spPr>
          <a:xfrm>
            <a:off x="152400" y="893088"/>
            <a:ext cx="11810999" cy="5355312"/>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6" name="Picture 5">
            <a:extLst>
              <a:ext uri="{FF2B5EF4-FFF2-40B4-BE49-F238E27FC236}">
                <a16:creationId xmlns:a16="http://schemas.microsoft.com/office/drawing/2014/main" id="{E824A2C7-1B65-B0D1-1B7F-F9966C10EB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774" y="1066800"/>
            <a:ext cx="11575026" cy="30493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6DF88BB9-59C0-6317-72F4-7888BC6C80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774" y="4349743"/>
            <a:ext cx="11575026" cy="16060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04074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F44AE-DED6-A873-8D59-1873BE6F4E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687CA-8AD4-8F30-41ED-D904DF6155DC}"/>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598A30BD-2101-1FED-4C79-12AEEEF30ABA}"/>
              </a:ext>
            </a:extLst>
          </p:cNvPr>
          <p:cNvSpPr txBox="1"/>
          <p:nvPr/>
        </p:nvSpPr>
        <p:spPr>
          <a:xfrm>
            <a:off x="152400" y="893088"/>
            <a:ext cx="11810999" cy="5355312"/>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5" name="Picture 4">
            <a:extLst>
              <a:ext uri="{FF2B5EF4-FFF2-40B4-BE49-F238E27FC236}">
                <a16:creationId xmlns:a16="http://schemas.microsoft.com/office/drawing/2014/main" id="{8257ABCB-B19F-3566-062E-3014F46A76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112615"/>
            <a:ext cx="5943600" cy="46327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30E89219-4820-067F-A697-E459961611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904" y="1112615"/>
            <a:ext cx="5701496" cy="463276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81386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7F098-273C-0733-2AB4-429312256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7CC5D-5CB3-6A6D-9E83-5D3800A50257}"/>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7520208E-6299-1C18-9424-F4F9A5F987BF}"/>
              </a:ext>
            </a:extLst>
          </p:cNvPr>
          <p:cNvSpPr txBox="1"/>
          <p:nvPr/>
        </p:nvSpPr>
        <p:spPr>
          <a:xfrm>
            <a:off x="152400" y="893088"/>
            <a:ext cx="11810999" cy="5355312"/>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9" name="Picture 8">
            <a:extLst>
              <a:ext uri="{FF2B5EF4-FFF2-40B4-BE49-F238E27FC236}">
                <a16:creationId xmlns:a16="http://schemas.microsoft.com/office/drawing/2014/main" id="{1CF6962A-88B7-D94F-DCC1-866913A5B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42801"/>
            <a:ext cx="10896599" cy="47007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26653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6CAED-03AC-5E37-E42E-4FCC03A5B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A0DCC9-4096-CC12-7CF7-72D77BE86B90}"/>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99BCD9F1-F347-DEC0-57E1-299EE9FA8BCC}"/>
              </a:ext>
            </a:extLst>
          </p:cNvPr>
          <p:cNvSpPr txBox="1"/>
          <p:nvPr/>
        </p:nvSpPr>
        <p:spPr>
          <a:xfrm>
            <a:off x="152400" y="893088"/>
            <a:ext cx="11810999" cy="5355312"/>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5" name="Picture 4">
            <a:extLst>
              <a:ext uri="{FF2B5EF4-FFF2-40B4-BE49-F238E27FC236}">
                <a16:creationId xmlns:a16="http://schemas.microsoft.com/office/drawing/2014/main" id="{3CCFFC43-EF55-8F9E-1E5E-50D77E1DA2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92" y="990600"/>
            <a:ext cx="5648269" cy="49743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7A046054-3854-72B2-CD3C-FBD6F1B9E4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1568" y="990600"/>
            <a:ext cx="6135739" cy="50718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50860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914AE-0683-1E6B-6931-AF9FB0935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05F08-190A-021D-0B25-047AEB2EAAEA}"/>
              </a:ext>
            </a:extLst>
          </p:cNvPr>
          <p:cNvSpPr>
            <a:spLocks noGrp="1"/>
          </p:cNvSpPr>
          <p:nvPr>
            <p:ph type="title"/>
          </p:nvPr>
        </p:nvSpPr>
        <p:spPr>
          <a:xfrm>
            <a:off x="1143000" y="228600"/>
            <a:ext cx="9175750" cy="430887"/>
          </a:xfrm>
        </p:spPr>
        <p:txBody>
          <a:bodyPr/>
          <a:lstStyle/>
          <a:p>
            <a:r>
              <a:rPr lang="en-US" spc="-10" dirty="0"/>
              <a:t>Results and Discussions</a:t>
            </a:r>
            <a:endParaRPr lang="en-US" dirty="0"/>
          </a:p>
        </p:txBody>
      </p:sp>
      <p:sp>
        <p:nvSpPr>
          <p:cNvPr id="3" name="TextBox 2">
            <a:extLst>
              <a:ext uri="{FF2B5EF4-FFF2-40B4-BE49-F238E27FC236}">
                <a16:creationId xmlns:a16="http://schemas.microsoft.com/office/drawing/2014/main" id="{8D81C4F0-D8EC-F7F2-08D8-05571B15C6CF}"/>
              </a:ext>
            </a:extLst>
          </p:cNvPr>
          <p:cNvSpPr txBox="1"/>
          <p:nvPr/>
        </p:nvSpPr>
        <p:spPr>
          <a:xfrm>
            <a:off x="152400" y="893088"/>
            <a:ext cx="11810999" cy="5355312"/>
          </a:xfrm>
          <a:prstGeom prst="rect">
            <a:avLst/>
          </a:prstGeom>
          <a:noFill/>
        </p:spPr>
        <p:txBody>
          <a:bodyPr wrap="square" rtlCol="0">
            <a:spAutoFit/>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pic>
        <p:nvPicPr>
          <p:cNvPr id="6" name="Picture 5">
            <a:extLst>
              <a:ext uri="{FF2B5EF4-FFF2-40B4-BE49-F238E27FC236}">
                <a16:creationId xmlns:a16="http://schemas.microsoft.com/office/drawing/2014/main" id="{89B806D9-4A85-19E4-2DCF-22D137808A88}"/>
              </a:ext>
            </a:extLst>
          </p:cNvPr>
          <p:cNvPicPr>
            <a:picLocks noChangeAspect="1"/>
          </p:cNvPicPr>
          <p:nvPr/>
        </p:nvPicPr>
        <p:blipFill>
          <a:blip r:embed="rId2"/>
          <a:stretch>
            <a:fillRect/>
          </a:stretch>
        </p:blipFill>
        <p:spPr>
          <a:xfrm>
            <a:off x="520173" y="1299381"/>
            <a:ext cx="5573816" cy="48965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1D475B84-3D30-4D19-9E24-570A27E58BE9}"/>
              </a:ext>
            </a:extLst>
          </p:cNvPr>
          <p:cNvPicPr>
            <a:picLocks noChangeAspect="1"/>
          </p:cNvPicPr>
          <p:nvPr/>
        </p:nvPicPr>
        <p:blipFill>
          <a:blip r:embed="rId3"/>
          <a:stretch>
            <a:fillRect/>
          </a:stretch>
        </p:blipFill>
        <p:spPr>
          <a:xfrm>
            <a:off x="6275596" y="1299380"/>
            <a:ext cx="5764004" cy="48965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84457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9CD17A3-8FA0-1A15-DCEA-C51D3DABA224}"/>
              </a:ext>
            </a:extLst>
          </p:cNvPr>
          <p:cNvSpPr txBox="1">
            <a:spLocks noGrp="1"/>
          </p:cNvSpPr>
          <p:nvPr>
            <p:ph type="title"/>
          </p:nvPr>
        </p:nvSpPr>
        <p:spPr>
          <a:xfrm>
            <a:off x="1176337" y="322990"/>
            <a:ext cx="9175750" cy="430887"/>
          </a:xfrm>
          <a:prstGeom prst="rect">
            <a:avLst/>
          </a:prstGeom>
        </p:spPr>
        <p:txBody>
          <a:bodyPr wrap="square" lIns="0" tIns="0" rIns="0" bIns="0">
            <a:spAutoFit/>
          </a:bodyPr>
          <a:lstStyle>
            <a:lvl1pPr>
              <a:defRPr sz="2800" b="1" i="0">
                <a:solidFill>
                  <a:srgbClr val="002060"/>
                </a:solidFill>
                <a:latin typeface="Cambria"/>
                <a:ea typeface="+mj-ea"/>
                <a:cs typeface="Cambria"/>
              </a:defRPr>
            </a:lvl1pPr>
          </a:lstStyle>
          <a:p>
            <a:r>
              <a:rPr lang="en-US" spc="-10" dirty="0"/>
              <a:t>Conclusion and Future Enhancement</a:t>
            </a:r>
            <a:endParaRPr lang="en-US" dirty="0"/>
          </a:p>
        </p:txBody>
      </p:sp>
      <p:sp>
        <p:nvSpPr>
          <p:cNvPr id="2" name="TextBox 1">
            <a:extLst>
              <a:ext uri="{FF2B5EF4-FFF2-40B4-BE49-F238E27FC236}">
                <a16:creationId xmlns:a16="http://schemas.microsoft.com/office/drawing/2014/main" id="{FDC1E21D-9245-E773-19E5-0E53FB33667D}"/>
              </a:ext>
            </a:extLst>
          </p:cNvPr>
          <p:cNvSpPr txBox="1"/>
          <p:nvPr/>
        </p:nvSpPr>
        <p:spPr>
          <a:xfrm>
            <a:off x="533400" y="1143000"/>
            <a:ext cx="10744200" cy="4401205"/>
          </a:xfrm>
          <a:prstGeom prst="rect">
            <a:avLst/>
          </a:prstGeom>
          <a:noFill/>
        </p:spPr>
        <p:txBody>
          <a:bodyPr wrap="square" rtlCol="0">
            <a:spAutoFit/>
          </a:bodyPr>
          <a:lstStyle/>
          <a:p>
            <a:r>
              <a:rPr lang="en-US" sz="2000" b="1" dirty="0">
                <a:latin typeface="Bookman Old Style" panose="02050604050505020204" pitchFamily="18" charset="0"/>
              </a:rPr>
              <a:t>Conclusion</a:t>
            </a:r>
          </a:p>
          <a:p>
            <a:pPr marL="285750" indent="-285750">
              <a:buFont typeface="Arial" panose="020B0604020202020204" pitchFamily="34" charset="0"/>
              <a:buChar char="•"/>
            </a:pPr>
            <a:r>
              <a:rPr lang="en-US" sz="2000" dirty="0">
                <a:latin typeface="Bookman Old Style" panose="02050604050505020204" pitchFamily="18" charset="0"/>
              </a:rPr>
              <a:t>Tool Share provides a simple and organized platform for connecting local tool owners and borrowers, helping users rent tools instead of buying them for short-term use.</a:t>
            </a:r>
          </a:p>
          <a:p>
            <a:pPr marL="285750" indent="-285750">
              <a:buFont typeface="Arial" panose="020B0604020202020204" pitchFamily="34" charset="0"/>
              <a:buChar char="•"/>
            </a:pPr>
            <a:endParaRPr lang="en-US" sz="2000" dirty="0">
              <a:latin typeface="Bookman Old Style" panose="02050604050505020204" pitchFamily="18" charset="0"/>
            </a:endParaRPr>
          </a:p>
          <a:p>
            <a:pPr marL="285750" indent="-285750">
              <a:buFont typeface="Arial" panose="020B0604020202020204" pitchFamily="34" charset="0"/>
              <a:buChar char="•"/>
            </a:pPr>
            <a:r>
              <a:rPr lang="en-US" sz="2000" dirty="0">
                <a:latin typeface="Bookman Old Style" panose="02050604050505020204" pitchFamily="18" charset="0"/>
              </a:rPr>
              <a:t>The system improves trust and safety through owner approval, payment details, refundable security deposit, verification, and review features.</a:t>
            </a:r>
          </a:p>
          <a:p>
            <a:pPr marL="285750" indent="-285750">
              <a:buFont typeface="Arial" panose="020B0604020202020204" pitchFamily="34" charset="0"/>
              <a:buChar char="•"/>
            </a:pPr>
            <a:endParaRPr lang="en-US" sz="2000" b="1" dirty="0">
              <a:latin typeface="Bookman Old Style" panose="02050604050505020204" pitchFamily="18" charset="0"/>
            </a:endParaRPr>
          </a:p>
          <a:p>
            <a:r>
              <a:rPr lang="en-US" sz="2000" b="1" dirty="0">
                <a:latin typeface="Bookman Old Style" panose="02050604050505020204" pitchFamily="18" charset="0"/>
              </a:rPr>
              <a:t>Future Enhancements</a:t>
            </a:r>
          </a:p>
          <a:p>
            <a:pPr marL="285750" indent="-285750">
              <a:buFont typeface="Arial" panose="020B0604020202020204" pitchFamily="34" charset="0"/>
              <a:buChar char="•"/>
            </a:pPr>
            <a:r>
              <a:rPr lang="en-US" sz="2000" dirty="0">
                <a:latin typeface="Bookman Old Style" panose="02050604050505020204" pitchFamily="18" charset="0"/>
              </a:rPr>
              <a:t>GPS-based location matching and </a:t>
            </a:r>
            <a:r>
              <a:rPr lang="en-US" sz="2000" dirty="0" err="1">
                <a:latin typeface="Bookman Old Style" panose="02050604050505020204" pitchFamily="18" charset="0"/>
              </a:rPr>
              <a:t>amobile</a:t>
            </a:r>
            <a:r>
              <a:rPr lang="en-US" sz="2000" dirty="0">
                <a:latin typeface="Bookman Old Style" panose="02050604050505020204" pitchFamily="18" charset="0"/>
              </a:rPr>
              <a:t> application can be added to make tool searching and borrowing more accurate and convenient.</a:t>
            </a:r>
          </a:p>
          <a:p>
            <a:endParaRPr lang="en-US" sz="2000" dirty="0">
              <a:latin typeface="Bookman Old Style" panose="02050604050505020204" pitchFamily="18" charset="0"/>
            </a:endParaRPr>
          </a:p>
          <a:p>
            <a:pPr marL="285750" indent="-285750">
              <a:buFont typeface="Arial" panose="020B0604020202020204" pitchFamily="34" charset="0"/>
              <a:buChar char="•"/>
            </a:pPr>
            <a:r>
              <a:rPr lang="en-US" sz="2000" dirty="0">
                <a:latin typeface="Bookman Old Style" panose="02050604050505020204" pitchFamily="18" charset="0"/>
              </a:rPr>
              <a:t>Advanced Generative Al features such as chatbot support, automatic tool suggestions, and price estimation can be improved in future versions.</a:t>
            </a:r>
          </a:p>
        </p:txBody>
      </p:sp>
    </p:spTree>
    <p:extLst>
      <p:ext uri="{BB962C8B-B14F-4D97-AF65-F5344CB8AC3E}">
        <p14:creationId xmlns:p14="http://schemas.microsoft.com/office/powerpoint/2010/main" val="3644870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76337" y="-9340"/>
            <a:ext cx="9175750" cy="637609"/>
          </a:xfrm>
          <a:prstGeom prst="rect">
            <a:avLst/>
          </a:prstGeom>
        </p:spPr>
        <p:txBody>
          <a:bodyPr vert="horz" wrap="square" lIns="0" tIns="204723" rIns="0" bIns="0" rtlCol="0">
            <a:spAutoFit/>
          </a:bodyPr>
          <a:lstStyle/>
          <a:p>
            <a:pPr marL="116205">
              <a:lnSpc>
                <a:spcPct val="100000"/>
              </a:lnSpc>
              <a:spcBef>
                <a:spcPts val="100"/>
              </a:spcBef>
            </a:pPr>
            <a:r>
              <a:rPr spc="-10" dirty="0"/>
              <a:t>References</a:t>
            </a:r>
          </a:p>
        </p:txBody>
      </p:sp>
      <p:sp>
        <p:nvSpPr>
          <p:cNvPr id="5" name="object 5"/>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6" name="object 6"/>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70" dirty="0"/>
              <a:t>30</a:t>
            </a:fld>
            <a:endParaRPr spc="70" dirty="0"/>
          </a:p>
        </p:txBody>
      </p:sp>
      <p:sp>
        <p:nvSpPr>
          <p:cNvPr id="3" name="object 3"/>
          <p:cNvSpPr txBox="1"/>
          <p:nvPr/>
        </p:nvSpPr>
        <p:spPr>
          <a:xfrm>
            <a:off x="0" y="914400"/>
            <a:ext cx="12160173" cy="5001369"/>
          </a:xfrm>
          <a:prstGeom prst="rect">
            <a:avLst/>
          </a:prstGeom>
        </p:spPr>
        <p:txBody>
          <a:bodyPr vert="horz" wrap="square" lIns="0" tIns="12700" rIns="0" bIns="0" rtlCol="0">
            <a:spAutoFit/>
          </a:bodyPr>
          <a:lstStyle/>
          <a:p>
            <a:pPr marL="290830">
              <a:lnSpc>
                <a:spcPct val="100000"/>
              </a:lnSpc>
              <a:spcBef>
                <a:spcPts val="680"/>
              </a:spcBef>
              <a:tabLst>
                <a:tab pos="614045" algn="l"/>
              </a:tabLst>
            </a:pPr>
            <a:r>
              <a:rPr lang="en-US" sz="1900" dirty="0">
                <a:latin typeface="Bookman Old Style" panose="02050604050505020204" pitchFamily="18" charset="0"/>
                <a:ea typeface="Cambria" panose="02040503050406030204" pitchFamily="18" charset="0"/>
              </a:rPr>
              <a:t>[1]  P.</a:t>
            </a:r>
            <a:r>
              <a:rPr lang="en-US" sz="1900" spc="-1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Akbar,</a:t>
            </a:r>
            <a:r>
              <a:rPr lang="en-US" sz="1900" spc="-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"Different</a:t>
            </a:r>
            <a:r>
              <a:rPr lang="en-US" sz="1900" spc="-3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shades of</a:t>
            </a:r>
            <a:r>
              <a:rPr lang="en-US" sz="1900" spc="-11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sharing</a:t>
            </a:r>
            <a:r>
              <a:rPr lang="en-US" sz="1900" spc="-2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in</a:t>
            </a:r>
            <a:r>
              <a:rPr lang="en-US" sz="1900" spc="-5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the sharing</a:t>
            </a:r>
            <a:r>
              <a:rPr lang="en-US" sz="1900" spc="-8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economy:</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a:t>
            </a:r>
            <a:r>
              <a:rPr lang="en-US" sz="1900" spc="-30"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prototype</a:t>
            </a:r>
            <a:r>
              <a:rPr lang="en-US" sz="1900" spc="-7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theory</a:t>
            </a:r>
            <a:r>
              <a:rPr lang="en-US" sz="1900" spc="-50"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approach, </a:t>
            </a:r>
            <a:r>
              <a:rPr lang="en-US" sz="1900" dirty="0">
                <a:latin typeface="Bookman Old Style" panose="02050604050505020204" pitchFamily="18" charset="0"/>
                <a:ea typeface="Cambria" panose="02040503050406030204" pitchFamily="18" charset="0"/>
              </a:rPr>
              <a:t>Journal</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of</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Services</a:t>
            </a:r>
            <a:r>
              <a:rPr lang="en-US" sz="1900" spc="-5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Marketing,</a:t>
            </a:r>
            <a:r>
              <a:rPr lang="en-US" sz="1900" spc="-7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Emerald</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Insight,</a:t>
            </a:r>
            <a:r>
              <a:rPr lang="en-US" sz="1900" spc="-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pp.</a:t>
            </a:r>
            <a:r>
              <a:rPr lang="en-US" sz="1900" spc="-8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1-16, Jan.</a:t>
            </a:r>
            <a:r>
              <a:rPr lang="en-US" sz="1900" spc="-10" dirty="0">
                <a:latin typeface="Bookman Old Style" panose="02050604050505020204" pitchFamily="18" charset="0"/>
                <a:ea typeface="Cambria" panose="02040503050406030204" pitchFamily="18" charset="0"/>
              </a:rPr>
              <a:t> 2026.</a:t>
            </a:r>
            <a:endParaRPr lang="en-US" sz="1900" dirty="0">
              <a:latin typeface="Bookman Old Style" panose="02050604050505020204" pitchFamily="18" charset="0"/>
              <a:ea typeface="Cambria" panose="02040503050406030204" pitchFamily="18" charset="0"/>
            </a:endParaRPr>
          </a:p>
          <a:p>
            <a:pPr marL="290830" marR="48895">
              <a:lnSpc>
                <a:spcPct val="125099"/>
              </a:lnSpc>
              <a:spcBef>
                <a:spcPts val="5"/>
              </a:spcBef>
              <a:tabLst>
                <a:tab pos="405765" algn="l"/>
                <a:tab pos="594360" algn="l"/>
              </a:tabLst>
            </a:pPr>
            <a:r>
              <a:rPr lang="en-US" sz="1900" dirty="0">
                <a:latin typeface="Bookman Old Style" panose="02050604050505020204" pitchFamily="18" charset="0"/>
                <a:ea typeface="Cambria" panose="02040503050406030204" pitchFamily="18" charset="0"/>
              </a:rPr>
              <a:t>[2]  F.</a:t>
            </a:r>
            <a:r>
              <a:rPr lang="en-US" sz="1900" spc="-7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Morillas, J.</a:t>
            </a:r>
            <a:r>
              <a:rPr lang="en-US" sz="1900" spc="-1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M.</a:t>
            </a:r>
            <a:r>
              <a:rPr lang="en-US" sz="1900" spc="-8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Pastor,</a:t>
            </a:r>
            <a:r>
              <a:rPr lang="en-US" sz="1900" spc="-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and</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L.</a:t>
            </a:r>
            <a:r>
              <a:rPr lang="en-US" sz="1900" spc="-8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Serrano,</a:t>
            </a:r>
            <a:r>
              <a:rPr lang="en-US" sz="1900" spc="-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"The</a:t>
            </a:r>
            <a:r>
              <a:rPr lang="en-US" sz="1900" spc="-5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impact</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of</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P2P</a:t>
            </a:r>
            <a:r>
              <a:rPr lang="en-US" sz="1900" spc="-2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platforms</a:t>
            </a:r>
            <a:r>
              <a:rPr lang="en-US" sz="1900" spc="-6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on</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rental</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prices</a:t>
            </a:r>
            <a:r>
              <a:rPr lang="en-US" sz="1900" spc="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in</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large</a:t>
            </a:r>
            <a:r>
              <a:rPr lang="en-US" sz="1900" spc="-5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cities:</a:t>
            </a:r>
            <a:r>
              <a:rPr lang="en-US" sz="1900" spc="-40" dirty="0">
                <a:latin typeface="Bookman Old Style" panose="02050604050505020204" pitchFamily="18" charset="0"/>
                <a:ea typeface="Cambria" panose="02040503050406030204" pitchFamily="18" charset="0"/>
              </a:rPr>
              <a:t> </a:t>
            </a:r>
            <a:r>
              <a:rPr lang="en-US" sz="1900" spc="-50" dirty="0">
                <a:latin typeface="Bookman Old Style" panose="02050604050505020204" pitchFamily="18" charset="0"/>
                <a:ea typeface="Cambria" panose="02040503050406030204" pitchFamily="18" charset="0"/>
              </a:rPr>
              <a:t>a  </a:t>
            </a:r>
            <a:r>
              <a:rPr lang="en-US" sz="1900" dirty="0">
                <a:latin typeface="Bookman Old Style" panose="02050604050505020204" pitchFamily="18" charset="0"/>
                <a:ea typeface="Cambria" panose="02040503050406030204" pitchFamily="18" charset="0"/>
              </a:rPr>
              <a:t>comparative</a:t>
            </a:r>
            <a:r>
              <a:rPr lang="en-US" sz="1900" spc="-5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analysis,"</a:t>
            </a:r>
            <a:r>
              <a:rPr lang="en-US" sz="1900" spc="-5"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International</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Journal</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of</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Tourism</a:t>
            </a:r>
            <a:r>
              <a:rPr lang="en-US" sz="1900" spc="-5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Cities,</a:t>
            </a:r>
            <a:r>
              <a:rPr lang="en-US" sz="1900" spc="-7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Jan.</a:t>
            </a:r>
            <a:r>
              <a:rPr lang="en-US" sz="1900" spc="-75"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2026.</a:t>
            </a:r>
          </a:p>
          <a:p>
            <a:pPr marL="290830" marR="217804">
              <a:lnSpc>
                <a:spcPct val="125200"/>
              </a:lnSpc>
              <a:tabLst>
                <a:tab pos="462915" algn="l"/>
                <a:tab pos="654685" algn="l"/>
              </a:tabLst>
            </a:pPr>
            <a:r>
              <a:rPr lang="en-US" sz="1900" dirty="0">
                <a:latin typeface="Bookman Old Style" panose="02050604050505020204" pitchFamily="18" charset="0"/>
                <a:ea typeface="Cambria" panose="02040503050406030204" pitchFamily="18" charset="0"/>
              </a:rPr>
              <a:t>[3]  A.</a:t>
            </a:r>
            <a:r>
              <a:rPr lang="en-US" sz="1900" spc="-3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Gladston,</a:t>
            </a:r>
            <a:r>
              <a:rPr lang="en-US" sz="1900" spc="-2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Bharghavi,</a:t>
            </a:r>
            <a:r>
              <a:rPr lang="en-US" sz="1900" spc="-1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and</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Nivethitha,</a:t>
            </a:r>
            <a:r>
              <a:rPr lang="en-US" sz="1900" spc="-2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"Online</a:t>
            </a:r>
            <a:r>
              <a:rPr lang="en-US" sz="1900" spc="-5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Car</a:t>
            </a:r>
            <a:r>
              <a:rPr lang="en-US" sz="1900" spc="-2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Rental</a:t>
            </a:r>
            <a:r>
              <a:rPr lang="en-US" sz="1900" spc="-4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Web</a:t>
            </a:r>
            <a:r>
              <a:rPr lang="en-US" sz="1900" spc="-3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App</a:t>
            </a:r>
            <a:r>
              <a:rPr lang="en-US" sz="1900" spc="-6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Powered</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by</a:t>
            </a:r>
            <a:r>
              <a:rPr lang="en-US" sz="1900" spc="-3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Full</a:t>
            </a:r>
            <a:r>
              <a:rPr lang="en-US" sz="1900" spc="-50" dirty="0">
                <a:latin typeface="Bookman Old Style" panose="02050604050505020204" pitchFamily="18" charset="0"/>
                <a:ea typeface="Cambria" panose="02040503050406030204" pitchFamily="18" charset="0"/>
              </a:rPr>
              <a:t> </a:t>
            </a:r>
            <a:r>
              <a:rPr lang="en-US" sz="1900" spc="-10" dirty="0" err="1">
                <a:latin typeface="Bookman Old Style" panose="02050604050505020204" pitchFamily="18" charset="0"/>
                <a:ea typeface="Cambria" panose="02040503050406030204" pitchFamily="18" charset="0"/>
              </a:rPr>
              <a:t>Stack,"</a:t>
            </a:r>
            <a:r>
              <a:rPr lang="en-US" sz="1900" dirty="0" err="1">
                <a:latin typeface="Bookman Old Style" panose="02050604050505020204" pitchFamily="18" charset="0"/>
                <a:ea typeface="Cambria" panose="02040503050406030204" pitchFamily="18" charset="0"/>
              </a:rPr>
              <a:t>Practical</a:t>
            </a:r>
            <a:r>
              <a:rPr lang="en-US" sz="1900" spc="-5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Frameworks</a:t>
            </a:r>
            <a:r>
              <a:rPr lang="en-US" sz="1900" spc="-7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for</a:t>
            </a:r>
            <a:r>
              <a:rPr lang="en-US" sz="1900" spc="-30"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New-</a:t>
            </a:r>
            <a:r>
              <a:rPr lang="en-US" sz="1900" dirty="0">
                <a:latin typeface="Bookman Old Style" panose="02050604050505020204" pitchFamily="18" charset="0"/>
                <a:ea typeface="Cambria" panose="02040503050406030204" pitchFamily="18" charset="0"/>
              </a:rPr>
              <a:t>Age</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Digitalization</a:t>
            </a:r>
            <a:r>
              <a:rPr lang="en-US" sz="1900" spc="-5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Business</a:t>
            </a:r>
            <a:r>
              <a:rPr lang="en-US" sz="1900" spc="-4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Strategy,</a:t>
            </a:r>
            <a:r>
              <a:rPr lang="en-US" sz="1900" spc="-1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IGI</a:t>
            </a:r>
            <a:r>
              <a:rPr lang="en-US" sz="1900" spc="-7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Global,</a:t>
            </a:r>
            <a:r>
              <a:rPr lang="en-US" sz="1900" spc="-40" dirty="0">
                <a:latin typeface="Bookman Old Style" panose="02050604050505020204" pitchFamily="18" charset="0"/>
                <a:ea typeface="Cambria" panose="02040503050406030204" pitchFamily="18" charset="0"/>
              </a:rPr>
              <a:t> </a:t>
            </a:r>
            <a:r>
              <a:rPr lang="en-US" sz="1900" dirty="0" err="1">
                <a:latin typeface="Bookman Old Style" panose="02050604050505020204" pitchFamily="18" charset="0"/>
                <a:ea typeface="Cambria" panose="02040503050406030204" pitchFamily="18" charset="0"/>
              </a:rPr>
              <a:t>ch.</a:t>
            </a:r>
            <a:r>
              <a:rPr lang="en-US" sz="1900" spc="-4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12,</a:t>
            </a:r>
            <a:r>
              <a:rPr lang="en-US" sz="1900" spc="-40"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2026.</a:t>
            </a:r>
          </a:p>
          <a:p>
            <a:pPr marL="290830" marR="510540">
              <a:lnSpc>
                <a:spcPts val="3010"/>
              </a:lnSpc>
              <a:spcBef>
                <a:spcPts val="190"/>
              </a:spcBef>
              <a:tabLst>
                <a:tab pos="462915" algn="l"/>
                <a:tab pos="595630" algn="l"/>
              </a:tabLst>
            </a:pPr>
            <a:r>
              <a:rPr lang="en-US" sz="1900" dirty="0">
                <a:latin typeface="Bookman Old Style" panose="02050604050505020204" pitchFamily="18" charset="0"/>
                <a:ea typeface="Cambria" panose="02040503050406030204" pitchFamily="18" charset="0"/>
              </a:rPr>
              <a:t>[4]  S.</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Sayan,</a:t>
            </a:r>
            <a:r>
              <a:rPr lang="en-US" sz="1900" spc="-1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Sahoo,</a:t>
            </a:r>
            <a:r>
              <a:rPr lang="en-US" sz="1900" spc="-1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T.</a:t>
            </a:r>
            <a:r>
              <a:rPr lang="en-US" sz="1900" spc="-2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Patwari,</a:t>
            </a:r>
            <a:r>
              <a:rPr lang="en-US" sz="1900" spc="-2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Samanta,</a:t>
            </a:r>
            <a:r>
              <a:rPr lang="en-US" sz="1900" spc="-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and</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a:t>
            </a:r>
            <a:r>
              <a:rPr lang="en-US" sz="1900" spc="-2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Mondal,</a:t>
            </a:r>
            <a:r>
              <a:rPr lang="en-US" sz="1900" spc="-3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"How</a:t>
            </a:r>
            <a:r>
              <a:rPr lang="en-US" sz="1900" spc="-1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to</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Employ</a:t>
            </a:r>
            <a:r>
              <a:rPr lang="en-US" sz="1900" spc="-6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Generative</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AI</a:t>
            </a:r>
            <a:r>
              <a:rPr lang="en-US" sz="1900" spc="-6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to</a:t>
            </a:r>
            <a:r>
              <a:rPr lang="en-US" sz="1900" spc="-30"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Build  </a:t>
            </a:r>
            <a:r>
              <a:rPr lang="en-US" sz="1900" dirty="0">
                <a:latin typeface="Bookman Old Style" panose="02050604050505020204" pitchFamily="18" charset="0"/>
                <a:ea typeface="Cambria" panose="02040503050406030204" pitchFamily="18" charset="0"/>
              </a:rPr>
              <a:t>informative</a:t>
            </a:r>
            <a:r>
              <a:rPr lang="en-US" sz="1900" spc="-4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Recommendation</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System,"</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Intelligent</a:t>
            </a:r>
            <a:r>
              <a:rPr lang="en-US" sz="1900" spc="-1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Systems,</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CRC</a:t>
            </a:r>
            <a:r>
              <a:rPr lang="en-US" sz="1900" spc="-7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Press,</a:t>
            </a:r>
            <a:r>
              <a:rPr lang="en-US" sz="1900" spc="-7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1st</a:t>
            </a:r>
            <a:r>
              <a:rPr lang="en-US" sz="1900" spc="-8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Ed.,</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pp.</a:t>
            </a:r>
            <a:r>
              <a:rPr lang="en-US" sz="1900" spc="-5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17,</a:t>
            </a:r>
            <a:r>
              <a:rPr lang="en-US" sz="1900" spc="-45"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2026.</a:t>
            </a:r>
          </a:p>
          <a:p>
            <a:pPr marL="290830">
              <a:lnSpc>
                <a:spcPct val="100000"/>
              </a:lnSpc>
              <a:spcBef>
                <a:spcPts val="325"/>
              </a:spcBef>
              <a:tabLst>
                <a:tab pos="595630" algn="l"/>
              </a:tabLst>
            </a:pPr>
            <a:r>
              <a:rPr lang="en-US" sz="1900" dirty="0">
                <a:latin typeface="Bookman Old Style" panose="02050604050505020204" pitchFamily="18" charset="0"/>
                <a:ea typeface="Cambria" panose="02040503050406030204" pitchFamily="18" charset="0"/>
              </a:rPr>
              <a:t>[5] Rekha</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B</a:t>
            </a:r>
            <a:r>
              <a:rPr lang="en-US" sz="1900" spc="-20" dirty="0">
                <a:latin typeface="Bookman Old Style" panose="02050604050505020204" pitchFamily="18" charset="0"/>
                <a:ea typeface="Cambria" panose="02040503050406030204" pitchFamily="18" charset="0"/>
              </a:rPr>
              <a:t> </a:t>
            </a:r>
            <a:r>
              <a:rPr lang="en-US" sz="1900" dirty="0" err="1">
                <a:latin typeface="Bookman Old Style" panose="02050604050505020204" pitchFamily="18" charset="0"/>
                <a:ea typeface="Cambria" panose="02040503050406030204" pitchFamily="18" charset="0"/>
              </a:rPr>
              <a:t>Venkatapur</a:t>
            </a:r>
            <a:r>
              <a:rPr lang="en-US" sz="1900" dirty="0">
                <a:latin typeface="Bookman Old Style" panose="02050604050505020204" pitchFamily="18" charset="0"/>
                <a:ea typeface="Cambria" panose="02040503050406030204" pitchFamily="18" charset="0"/>
              </a:rPr>
              <a:t>,</a:t>
            </a:r>
            <a:r>
              <a:rPr lang="en-US" sz="1900" spc="-1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Sinchana</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M,</a:t>
            </a:r>
            <a:r>
              <a:rPr lang="en-US" sz="1900" spc="-3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Vamshi</a:t>
            </a:r>
            <a:r>
              <a:rPr lang="en-US" sz="1900" spc="-2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N</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M,</a:t>
            </a:r>
            <a:r>
              <a:rPr lang="en-US" sz="1900" spc="-3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Veena</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M,</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and</a:t>
            </a:r>
            <a:r>
              <a:rPr lang="en-US" sz="1900" spc="-3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Vikram</a:t>
            </a:r>
            <a:r>
              <a:rPr lang="en-US" sz="1900" spc="-4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S,</a:t>
            </a:r>
            <a:r>
              <a:rPr lang="en-US" sz="1900" spc="10"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"Cloud-</a:t>
            </a:r>
            <a:r>
              <a:rPr lang="en-US" sz="1900" dirty="0">
                <a:latin typeface="Bookman Old Style" panose="02050604050505020204" pitchFamily="18" charset="0"/>
                <a:ea typeface="Cambria" panose="02040503050406030204" pitchFamily="18" charset="0"/>
              </a:rPr>
              <a:t>Based</a:t>
            </a:r>
            <a:r>
              <a:rPr lang="en-US" sz="1900" spc="-15"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Agricultural </a:t>
            </a:r>
            <a:r>
              <a:rPr lang="en-US" sz="1900" dirty="0">
                <a:latin typeface="Bookman Old Style" panose="02050604050505020204" pitchFamily="18" charset="0"/>
                <a:ea typeface="Cambria" panose="02040503050406030204" pitchFamily="18" charset="0"/>
              </a:rPr>
              <a:t>Equipment</a:t>
            </a:r>
            <a:r>
              <a:rPr lang="en-US" sz="1900" spc="-2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Rental</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Platforms:</a:t>
            </a:r>
            <a:r>
              <a:rPr lang="en-US" sz="1900" spc="-1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Bridging</a:t>
            </a:r>
            <a:r>
              <a:rPr lang="en-US" sz="1900" spc="-5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the</a:t>
            </a:r>
            <a:r>
              <a:rPr lang="en-US" sz="1900" spc="-2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Gap</a:t>
            </a:r>
            <a:r>
              <a:rPr lang="en-US" sz="1900" spc="-4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Between</a:t>
            </a:r>
            <a:r>
              <a:rPr lang="en-US" sz="1900" spc="-6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Farmers</a:t>
            </a:r>
            <a:r>
              <a:rPr lang="en-US" sz="1900" spc="-5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and</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Machinery,"</a:t>
            </a:r>
            <a:r>
              <a:rPr lang="en-US" sz="1900" spc="-7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2026</a:t>
            </a:r>
            <a:r>
              <a:rPr lang="en-US" sz="1900" spc="-60"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International </a:t>
            </a:r>
            <a:r>
              <a:rPr lang="en-US" sz="1900" dirty="0">
                <a:latin typeface="Bookman Old Style" panose="02050604050505020204" pitchFamily="18" charset="0"/>
                <a:ea typeface="Cambria" panose="02040503050406030204" pitchFamily="18" charset="0"/>
              </a:rPr>
              <a:t>Conference</a:t>
            </a:r>
            <a:r>
              <a:rPr lang="en-US" sz="1900" spc="-6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on</a:t>
            </a:r>
            <a:r>
              <a:rPr lang="en-US" sz="1900" spc="-5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Intelligent</a:t>
            </a:r>
            <a:r>
              <a:rPr lang="en-US" sz="1900" spc="-1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and</a:t>
            </a:r>
            <a:r>
              <a:rPr lang="en-US" sz="1900" spc="-6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Innovative</a:t>
            </a:r>
            <a:r>
              <a:rPr lang="en-US" sz="1900" spc="-6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Technologies</a:t>
            </a:r>
            <a:r>
              <a:rPr lang="en-US" sz="1900" spc="-7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in</a:t>
            </a:r>
            <a:r>
              <a:rPr lang="en-US" sz="1900" spc="-40"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Computing,</a:t>
            </a:r>
            <a:r>
              <a:rPr lang="en-US" sz="1900" spc="-4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Electrical</a:t>
            </a:r>
            <a:r>
              <a:rPr lang="en-US" sz="1900" spc="-8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and</a:t>
            </a:r>
            <a:r>
              <a:rPr lang="en-US" sz="1900" spc="-65" dirty="0">
                <a:latin typeface="Bookman Old Style" panose="02050604050505020204" pitchFamily="18" charset="0"/>
                <a:ea typeface="Cambria" panose="02040503050406030204" pitchFamily="18" charset="0"/>
              </a:rPr>
              <a:t> </a:t>
            </a:r>
            <a:r>
              <a:rPr lang="en-US" sz="1900" dirty="0">
                <a:latin typeface="Bookman Old Style" panose="02050604050505020204" pitchFamily="18" charset="0"/>
                <a:ea typeface="Cambria" panose="02040503050406030204" pitchFamily="18" charset="0"/>
              </a:rPr>
              <a:t>Electronics</a:t>
            </a:r>
            <a:r>
              <a:rPr lang="en-US" sz="1900" spc="-55"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(IITCEE), </a:t>
            </a:r>
            <a:r>
              <a:rPr lang="en-US" sz="1900" dirty="0">
                <a:latin typeface="Bookman Old Style" panose="02050604050505020204" pitchFamily="18" charset="0"/>
                <a:ea typeface="Cambria" panose="02040503050406030204" pitchFamily="18" charset="0"/>
              </a:rPr>
              <a:t>Jan.</a:t>
            </a:r>
            <a:r>
              <a:rPr lang="en-US" sz="1900" spc="-20" dirty="0">
                <a:latin typeface="Bookman Old Style" panose="02050604050505020204" pitchFamily="18" charset="0"/>
                <a:ea typeface="Cambria" panose="02040503050406030204" pitchFamily="18" charset="0"/>
              </a:rPr>
              <a:t> </a:t>
            </a:r>
            <a:r>
              <a:rPr lang="en-US" sz="1900" spc="-10" dirty="0">
                <a:latin typeface="Bookman Old Style" panose="02050604050505020204" pitchFamily="18" charset="0"/>
                <a:ea typeface="Cambria" panose="02040503050406030204" pitchFamily="18" charset="0"/>
              </a:rPr>
              <a:t>22-</a:t>
            </a:r>
            <a:r>
              <a:rPr lang="en-US" sz="1900" dirty="0">
                <a:latin typeface="Bookman Old Style" panose="02050604050505020204" pitchFamily="18" charset="0"/>
                <a:ea typeface="Cambria" panose="02040503050406030204" pitchFamily="18" charset="0"/>
              </a:rPr>
              <a:t>23,</a:t>
            </a:r>
            <a:r>
              <a:rPr lang="en-US" sz="1900" spc="-10" dirty="0">
                <a:latin typeface="Bookman Old Style" panose="02050604050505020204" pitchFamily="18" charset="0"/>
                <a:ea typeface="Cambria" panose="02040503050406030204" pitchFamily="18" charset="0"/>
              </a:rPr>
              <a:t> </a:t>
            </a:r>
            <a:r>
              <a:rPr lang="en-US" sz="1900" spc="-20" dirty="0">
                <a:latin typeface="Bookman Old Style" panose="02050604050505020204" pitchFamily="18" charset="0"/>
                <a:ea typeface="Cambria" panose="02040503050406030204" pitchFamily="18" charset="0"/>
              </a:rPr>
              <a:t>2026.</a:t>
            </a:r>
            <a:endParaRPr lang="en-US" sz="1900" dirty="0">
              <a:latin typeface="Bookman Old Style" panose="02050604050505020204" pitchFamily="18" charset="0"/>
              <a:ea typeface="Cambria" panose="020405030504060302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B80E6A-33DC-B411-E512-E150837196D9}"/>
              </a:ext>
            </a:extLst>
          </p:cNvPr>
          <p:cNvSpPr txBox="1"/>
          <p:nvPr/>
        </p:nvSpPr>
        <p:spPr>
          <a:xfrm>
            <a:off x="0" y="990600"/>
            <a:ext cx="12039600" cy="5408853"/>
          </a:xfrm>
          <a:prstGeom prst="rect">
            <a:avLst/>
          </a:prstGeom>
          <a:noFill/>
        </p:spPr>
        <p:txBody>
          <a:bodyPr wrap="square" rtlCol="0">
            <a:spAutoFit/>
          </a:bodyPr>
          <a:lstStyle/>
          <a:p>
            <a:pPr marL="12065" marR="984250">
              <a:lnSpc>
                <a:spcPct val="131000"/>
              </a:lnSpc>
              <a:spcBef>
                <a:spcPts val="95"/>
              </a:spcBef>
              <a:tabLst>
                <a:tab pos="330200" algn="l"/>
                <a:tab pos="349885" algn="l"/>
              </a:tabLst>
            </a:pPr>
            <a:r>
              <a:rPr lang="en-US" sz="1700" dirty="0">
                <a:latin typeface="Bookman Old Style" panose="02050604050505020204" pitchFamily="18" charset="0"/>
                <a:ea typeface="Cambria" panose="02040503050406030204" pitchFamily="18" charset="0"/>
                <a:cs typeface="Calibri"/>
              </a:rPr>
              <a:t>  [6] Premkumar,</a:t>
            </a:r>
            <a:r>
              <a:rPr lang="en-US" sz="1700" spc="114"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N.</a:t>
            </a:r>
            <a:r>
              <a:rPr lang="en-US" sz="1700" spc="10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Pushpalatha,</a:t>
            </a:r>
            <a:r>
              <a:rPr lang="en-US" sz="1700" spc="114"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P.</a:t>
            </a:r>
            <a:r>
              <a:rPr lang="en-US" sz="1700" spc="105" dirty="0">
                <a:latin typeface="Bookman Old Style" panose="02050604050505020204" pitchFamily="18" charset="0"/>
                <a:ea typeface="Cambria" panose="02040503050406030204" pitchFamily="18" charset="0"/>
                <a:cs typeface="Calibri"/>
              </a:rPr>
              <a:t> </a:t>
            </a:r>
            <a:r>
              <a:rPr lang="en-US" sz="1700" dirty="0" err="1">
                <a:latin typeface="Bookman Old Style" panose="02050604050505020204" pitchFamily="18" charset="0"/>
                <a:ea typeface="Cambria" panose="02040503050406030204" pitchFamily="18" charset="0"/>
                <a:cs typeface="Calibri"/>
              </a:rPr>
              <a:t>Palpandian</a:t>
            </a:r>
            <a:r>
              <a:rPr lang="en-US" sz="1700" dirty="0">
                <a:latin typeface="Bookman Old Style" panose="02050604050505020204" pitchFamily="18" charset="0"/>
                <a:ea typeface="Cambria" panose="02040503050406030204" pitchFamily="18" charset="0"/>
                <a:cs typeface="Calibri"/>
              </a:rPr>
              <a:t>,</a:t>
            </a:r>
            <a:r>
              <a:rPr lang="en-US" sz="1700" spc="114"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S.</a:t>
            </a:r>
            <a:r>
              <a:rPr lang="en-US" sz="1700" spc="110" dirty="0">
                <a:latin typeface="Bookman Old Style" panose="02050604050505020204" pitchFamily="18" charset="0"/>
                <a:ea typeface="Cambria" panose="02040503050406030204" pitchFamily="18" charset="0"/>
                <a:cs typeface="Calibri"/>
              </a:rPr>
              <a:t> </a:t>
            </a:r>
            <a:r>
              <a:rPr lang="en-US" sz="1700" dirty="0" err="1">
                <a:latin typeface="Bookman Old Style" panose="02050604050505020204" pitchFamily="18" charset="0"/>
                <a:ea typeface="Cambria" panose="02040503050406030204" pitchFamily="18" charset="0"/>
                <a:cs typeface="Calibri"/>
              </a:rPr>
              <a:t>Karthikraja</a:t>
            </a:r>
            <a:r>
              <a:rPr lang="en-US" sz="1700" dirty="0">
                <a:latin typeface="Bookman Old Style" panose="02050604050505020204" pitchFamily="18" charset="0"/>
                <a:ea typeface="Cambria" panose="02040503050406030204" pitchFamily="18" charset="0"/>
                <a:cs typeface="Calibri"/>
              </a:rPr>
              <a:t>,</a:t>
            </a:r>
            <a:r>
              <a:rPr lang="en-US" sz="1700" spc="114"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K.</a:t>
            </a:r>
            <a:r>
              <a:rPr lang="en-US" sz="1700" spc="11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Rameela,</a:t>
            </a:r>
            <a:r>
              <a:rPr lang="en-US" sz="1700" spc="114" dirty="0">
                <a:latin typeface="Bookman Old Style" panose="02050604050505020204" pitchFamily="18" charset="0"/>
                <a:ea typeface="Cambria" panose="02040503050406030204" pitchFamily="18" charset="0"/>
                <a:cs typeface="Calibri"/>
              </a:rPr>
              <a:t> </a:t>
            </a:r>
            <a:r>
              <a:rPr lang="en-US" sz="1700" dirty="0" err="1">
                <a:latin typeface="Bookman Old Style" panose="02050604050505020204" pitchFamily="18" charset="0"/>
                <a:ea typeface="Cambria" panose="02040503050406030204" pitchFamily="18" charset="0"/>
                <a:cs typeface="Calibri"/>
              </a:rPr>
              <a:t>S.</a:t>
            </a:r>
            <a:r>
              <a:rPr lang="en-US" sz="1700" spc="-10" dirty="0" err="1">
                <a:latin typeface="Bookman Old Style" panose="02050604050505020204" pitchFamily="18" charset="0"/>
                <a:ea typeface="Cambria" panose="02040503050406030204" pitchFamily="18" charset="0"/>
                <a:cs typeface="Calibri"/>
              </a:rPr>
              <a:t>Somasundaram</a:t>
            </a:r>
            <a:r>
              <a:rPr lang="en-US" sz="1700" spc="-1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and  </a:t>
            </a:r>
          </a:p>
          <a:p>
            <a:pPr marL="12065" marR="984250">
              <a:lnSpc>
                <a:spcPct val="131000"/>
              </a:lnSpc>
              <a:spcBef>
                <a:spcPts val="95"/>
              </a:spcBef>
              <a:tabLst>
                <a:tab pos="330200" algn="l"/>
                <a:tab pos="349885" algn="l"/>
              </a:tabLst>
            </a:pPr>
            <a:r>
              <a:rPr lang="en-US" sz="1700" dirty="0">
                <a:latin typeface="Bookman Old Style" panose="02050604050505020204" pitchFamily="18" charset="0"/>
                <a:ea typeface="Cambria" panose="02040503050406030204" pitchFamily="18" charset="0"/>
                <a:cs typeface="Calibri"/>
              </a:rPr>
              <a:t>  </a:t>
            </a:r>
            <a:r>
              <a:rPr lang="en-US" sz="1700" dirty="0" err="1">
                <a:latin typeface="Bookman Old Style" panose="02050604050505020204" pitchFamily="18" charset="0"/>
                <a:ea typeface="Cambria" panose="02040503050406030204" pitchFamily="18" charset="0"/>
                <a:cs typeface="Calibri"/>
              </a:rPr>
              <a:t>S.Gowtham,"Development</a:t>
            </a:r>
            <a:r>
              <a:rPr lang="en-US" sz="1700" spc="14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of</a:t>
            </a:r>
            <a:r>
              <a:rPr lang="en-US" sz="1700" spc="5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a:t>
            </a:r>
            <a:r>
              <a:rPr lang="en-US" sz="1700" spc="9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Smart</a:t>
            </a:r>
            <a:r>
              <a:rPr lang="en-US" sz="1700" spc="11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Electric</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Bike</a:t>
            </a:r>
            <a:r>
              <a:rPr lang="en-US" sz="1700" spc="10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Rental  System:</a:t>
            </a:r>
            <a:r>
              <a:rPr lang="en-US" sz="1700" spc="9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An</a:t>
            </a:r>
            <a:r>
              <a:rPr lang="en-US" sz="1700" spc="90" dirty="0">
                <a:latin typeface="Bookman Old Style" panose="02050604050505020204" pitchFamily="18" charset="0"/>
                <a:ea typeface="Cambria" panose="02040503050406030204" pitchFamily="18" charset="0"/>
                <a:cs typeface="Calibri"/>
              </a:rPr>
              <a:t> </a:t>
            </a:r>
            <a:r>
              <a:rPr lang="en-US" sz="1700" spc="-10" dirty="0">
                <a:latin typeface="Bookman Old Style" panose="02050604050505020204" pitchFamily="18" charset="0"/>
                <a:ea typeface="Cambria" panose="02040503050406030204" pitchFamily="18" charset="0"/>
                <a:cs typeface="Calibri"/>
              </a:rPr>
              <a:t>Experimental </a:t>
            </a:r>
            <a:r>
              <a:rPr lang="en-US" sz="1700" dirty="0">
                <a:latin typeface="Bookman Old Style" panose="02050604050505020204" pitchFamily="18" charset="0"/>
                <a:ea typeface="Cambria" panose="02040503050406030204" pitchFamily="18" charset="0"/>
                <a:cs typeface="Calibri"/>
              </a:rPr>
              <a:t>Study,"</a:t>
            </a:r>
            <a:r>
              <a:rPr lang="en-US" sz="1700" spc="9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Premier</a:t>
            </a:r>
            <a:r>
              <a:rPr lang="en-US" sz="1700" spc="95" dirty="0">
                <a:latin typeface="Bookman Old Style" panose="02050604050505020204" pitchFamily="18" charset="0"/>
                <a:ea typeface="Cambria" panose="02040503050406030204" pitchFamily="18" charset="0"/>
                <a:cs typeface="Calibri"/>
              </a:rPr>
              <a:t> </a:t>
            </a:r>
          </a:p>
          <a:p>
            <a:pPr marL="12065" marR="984250">
              <a:lnSpc>
                <a:spcPct val="131000"/>
              </a:lnSpc>
              <a:spcBef>
                <a:spcPts val="95"/>
              </a:spcBef>
              <a:tabLst>
                <a:tab pos="330200" algn="l"/>
                <a:tab pos="349885" algn="l"/>
              </a:tabLst>
            </a:pPr>
            <a:r>
              <a:rPr lang="en-US" sz="1700" spc="9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Journal</a:t>
            </a:r>
            <a:r>
              <a:rPr lang="en-US" sz="1700" spc="9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of</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Science,</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Jan.</a:t>
            </a:r>
            <a:r>
              <a:rPr lang="en-US" sz="1700" spc="10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31,</a:t>
            </a:r>
            <a:r>
              <a:rPr lang="en-US" sz="1700" spc="114" dirty="0">
                <a:latin typeface="Bookman Old Style" panose="02050604050505020204" pitchFamily="18" charset="0"/>
                <a:ea typeface="Cambria" panose="02040503050406030204" pitchFamily="18" charset="0"/>
                <a:cs typeface="Calibri"/>
              </a:rPr>
              <a:t> </a:t>
            </a:r>
            <a:r>
              <a:rPr lang="en-US" sz="1700" spc="-10" dirty="0">
                <a:latin typeface="Bookman Old Style" panose="02050604050505020204" pitchFamily="18" charset="0"/>
                <a:ea typeface="Cambria" panose="02040503050406030204" pitchFamily="18" charset="0"/>
                <a:cs typeface="Calibri"/>
              </a:rPr>
              <a:t>2026.</a:t>
            </a:r>
            <a:endParaRPr lang="en-US" sz="1700" dirty="0">
              <a:latin typeface="Bookman Old Style" panose="02050604050505020204" pitchFamily="18" charset="0"/>
              <a:ea typeface="Cambria" panose="02040503050406030204" pitchFamily="18" charset="0"/>
              <a:cs typeface="Calibri"/>
            </a:endParaRPr>
          </a:p>
          <a:p>
            <a:pPr marL="12065" marR="1046480" algn="just">
              <a:lnSpc>
                <a:spcPts val="3379"/>
              </a:lnSpc>
              <a:spcBef>
                <a:spcPts val="244"/>
              </a:spcBef>
              <a:tabLst>
                <a:tab pos="330200" algn="l"/>
                <a:tab pos="350520" algn="l"/>
              </a:tabLst>
            </a:pPr>
            <a:r>
              <a:rPr lang="en-US" sz="1700" dirty="0">
                <a:latin typeface="Bookman Old Style" panose="02050604050505020204" pitchFamily="18" charset="0"/>
                <a:ea typeface="Cambria" panose="02040503050406030204" pitchFamily="18" charset="0"/>
                <a:cs typeface="Calibri"/>
              </a:rPr>
              <a:t>  [7] K.</a:t>
            </a:r>
            <a:r>
              <a:rPr lang="en-US" sz="1700" spc="9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Jindal,</a:t>
            </a:r>
            <a:r>
              <a:rPr lang="en-US" sz="1700" spc="13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H.</a:t>
            </a:r>
            <a:r>
              <a:rPr lang="en-US" sz="1700" spc="85" dirty="0">
                <a:latin typeface="Bookman Old Style" panose="02050604050505020204" pitchFamily="18" charset="0"/>
                <a:ea typeface="Cambria" panose="02040503050406030204" pitchFamily="18" charset="0"/>
                <a:cs typeface="Calibri"/>
              </a:rPr>
              <a:t> </a:t>
            </a:r>
            <a:r>
              <a:rPr lang="en-US" sz="1700" dirty="0" err="1">
                <a:latin typeface="Bookman Old Style" panose="02050604050505020204" pitchFamily="18" charset="0"/>
                <a:ea typeface="Cambria" panose="02040503050406030204" pitchFamily="18" charset="0"/>
                <a:cs typeface="Calibri"/>
              </a:rPr>
              <a:t>Kharb</a:t>
            </a:r>
            <a:r>
              <a:rPr lang="en-US" sz="1700" dirty="0">
                <a:latin typeface="Bookman Old Style" panose="02050604050505020204" pitchFamily="18" charset="0"/>
                <a:ea typeface="Cambria" panose="02040503050406030204" pitchFamily="18" charset="0"/>
                <a:cs typeface="Calibri"/>
              </a:rPr>
              <a:t>,</a:t>
            </a:r>
            <a:r>
              <a:rPr lang="en-US" sz="1700" spc="9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and</a:t>
            </a:r>
            <a:r>
              <a:rPr lang="en-US" sz="1700" spc="12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R.</a:t>
            </a:r>
            <a:r>
              <a:rPr lang="en-US" sz="1700" spc="8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K.</a:t>
            </a:r>
            <a:r>
              <a:rPr lang="en-US" sz="1700" spc="85" dirty="0">
                <a:latin typeface="Bookman Old Style" panose="02050604050505020204" pitchFamily="18" charset="0"/>
                <a:ea typeface="Cambria" panose="02040503050406030204" pitchFamily="18" charset="0"/>
                <a:cs typeface="Calibri"/>
              </a:rPr>
              <a:t> </a:t>
            </a:r>
            <a:r>
              <a:rPr lang="en-US" sz="1700" dirty="0" err="1">
                <a:latin typeface="Bookman Old Style" panose="02050604050505020204" pitchFamily="18" charset="0"/>
                <a:ea typeface="Cambria" panose="02040503050406030204" pitchFamily="18" charset="0"/>
                <a:cs typeface="Calibri"/>
              </a:rPr>
              <a:t>Nirala</a:t>
            </a:r>
            <a:r>
              <a:rPr lang="en-US" sz="1700" dirty="0">
                <a:latin typeface="Bookman Old Style" panose="02050604050505020204" pitchFamily="18" charset="0"/>
                <a:ea typeface="Cambria" panose="02040503050406030204" pitchFamily="18" charset="0"/>
                <a:cs typeface="Calibri"/>
              </a:rPr>
              <a:t>,</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"P2P-SFS:</a:t>
            </a:r>
            <a:r>
              <a:rPr lang="en-US" sz="1700" spc="9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Secured</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Peer-to-Peer</a:t>
            </a:r>
            <a:r>
              <a:rPr lang="en-US" sz="1700" spc="5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File</a:t>
            </a:r>
            <a:r>
              <a:rPr lang="en-US" sz="1700" spc="10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Sharing</a:t>
            </a:r>
            <a:r>
              <a:rPr lang="en-US" sz="1700" spc="10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with</a:t>
            </a:r>
            <a:r>
              <a:rPr lang="en-US" sz="1700" spc="60" dirty="0">
                <a:latin typeface="Bookman Old Style" panose="02050604050505020204" pitchFamily="18" charset="0"/>
                <a:ea typeface="Cambria" panose="02040503050406030204" pitchFamily="18" charset="0"/>
                <a:cs typeface="Calibri"/>
              </a:rPr>
              <a:t> </a:t>
            </a:r>
            <a:r>
              <a:rPr lang="en-US" sz="1700" spc="-25" dirty="0">
                <a:latin typeface="Bookman Old Style" panose="02050604050505020204" pitchFamily="18" charset="0"/>
                <a:ea typeface="Cambria" panose="02040503050406030204" pitchFamily="18" charset="0"/>
                <a:cs typeface="Calibri"/>
              </a:rPr>
              <a:t>End </a:t>
            </a:r>
            <a:r>
              <a:rPr lang="en-US" sz="1700" dirty="0">
                <a:latin typeface="Bookman Old Style" panose="02050604050505020204" pitchFamily="18" charset="0"/>
                <a:ea typeface="Cambria" panose="02040503050406030204" pitchFamily="18" charset="0"/>
                <a:cs typeface="Calibri"/>
              </a:rPr>
              <a:t>to-</a:t>
            </a:r>
          </a:p>
          <a:p>
            <a:pPr marL="12065" marR="1046480" algn="just">
              <a:lnSpc>
                <a:spcPts val="3379"/>
              </a:lnSpc>
              <a:spcBef>
                <a:spcPts val="244"/>
              </a:spcBef>
              <a:tabLst>
                <a:tab pos="330200" algn="l"/>
                <a:tab pos="350520" algn="l"/>
              </a:tabLst>
            </a:pPr>
            <a:r>
              <a:rPr lang="en-US" sz="1700" dirty="0">
                <a:latin typeface="Bookman Old Style" panose="02050604050505020204" pitchFamily="18" charset="0"/>
                <a:ea typeface="Cambria" panose="02040503050406030204" pitchFamily="18" charset="0"/>
                <a:cs typeface="Calibri"/>
              </a:rPr>
              <a:t>  End</a:t>
            </a:r>
            <a:r>
              <a:rPr lang="en-US" sz="1700" spc="10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Encryption</a:t>
            </a:r>
            <a:r>
              <a:rPr lang="en-US" sz="1700" spc="13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and</a:t>
            </a:r>
            <a:r>
              <a:rPr lang="en-US" sz="1700" spc="16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Authentication,"</a:t>
            </a:r>
            <a:r>
              <a:rPr lang="en-US" sz="1700" spc="14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2026</a:t>
            </a:r>
            <a:r>
              <a:rPr lang="en-US" sz="1700" spc="9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International</a:t>
            </a:r>
            <a:r>
              <a:rPr lang="en-US" sz="1700" spc="15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Conference</a:t>
            </a:r>
            <a:r>
              <a:rPr lang="en-US" sz="1700" spc="114"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on</a:t>
            </a:r>
            <a:r>
              <a:rPr lang="en-US" sz="1700" spc="8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Intelligent </a:t>
            </a:r>
            <a:r>
              <a:rPr lang="en-US" sz="1700" spc="130" dirty="0">
                <a:latin typeface="Bookman Old Style" panose="02050604050505020204" pitchFamily="18" charset="0"/>
                <a:ea typeface="Cambria" panose="02040503050406030204" pitchFamily="18" charset="0"/>
                <a:cs typeface="Calibri"/>
              </a:rPr>
              <a:t> </a:t>
            </a:r>
            <a:r>
              <a:rPr lang="en-US" sz="1700" spc="-25" dirty="0">
                <a:latin typeface="Bookman Old Style" panose="02050604050505020204" pitchFamily="18" charset="0"/>
                <a:ea typeface="Cambria" panose="02040503050406030204" pitchFamily="18" charset="0"/>
                <a:cs typeface="Calibri"/>
              </a:rPr>
              <a:t>and </a:t>
            </a:r>
            <a:r>
              <a:rPr lang="en-US" sz="1700" dirty="0">
                <a:latin typeface="Bookman Old Style" panose="02050604050505020204" pitchFamily="18" charset="0"/>
                <a:ea typeface="Cambria" panose="02040503050406030204" pitchFamily="18" charset="0"/>
                <a:cs typeface="Calibri"/>
              </a:rPr>
              <a:t>innovative</a:t>
            </a:r>
            <a:r>
              <a:rPr lang="en-US" sz="1700" spc="105" dirty="0">
                <a:latin typeface="Bookman Old Style" panose="02050604050505020204" pitchFamily="18" charset="0"/>
                <a:ea typeface="Cambria" panose="02040503050406030204" pitchFamily="18" charset="0"/>
                <a:cs typeface="Calibri"/>
              </a:rPr>
              <a:t> </a:t>
            </a:r>
          </a:p>
          <a:p>
            <a:pPr marL="12065" marR="1046480" algn="just">
              <a:lnSpc>
                <a:spcPts val="3379"/>
              </a:lnSpc>
              <a:spcBef>
                <a:spcPts val="244"/>
              </a:spcBef>
              <a:tabLst>
                <a:tab pos="330200" algn="l"/>
                <a:tab pos="350520" algn="l"/>
              </a:tabLst>
            </a:pPr>
            <a:r>
              <a:rPr lang="en-US" sz="1700" spc="10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Technologies</a:t>
            </a:r>
            <a:r>
              <a:rPr lang="en-US" sz="1700" spc="114"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in</a:t>
            </a:r>
            <a:r>
              <a:rPr lang="en-US" sz="1700" spc="8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Computing,</a:t>
            </a:r>
            <a:r>
              <a:rPr lang="en-US" sz="1700" spc="9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Electrical</a:t>
            </a:r>
            <a:r>
              <a:rPr lang="en-US" sz="1700" spc="12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and</a:t>
            </a:r>
            <a:r>
              <a:rPr lang="en-US" sz="1700" spc="13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Electronics</a:t>
            </a:r>
            <a:r>
              <a:rPr lang="en-US" sz="1700" spc="114"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(IITCEE),</a:t>
            </a:r>
            <a:r>
              <a:rPr lang="en-US" sz="1700" spc="12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Jan.</a:t>
            </a:r>
            <a:r>
              <a:rPr lang="en-US" sz="1700" spc="90" dirty="0">
                <a:latin typeface="Bookman Old Style" panose="02050604050505020204" pitchFamily="18" charset="0"/>
                <a:ea typeface="Cambria" panose="02040503050406030204" pitchFamily="18" charset="0"/>
                <a:cs typeface="Calibri"/>
              </a:rPr>
              <a:t> </a:t>
            </a:r>
            <a:r>
              <a:rPr lang="en-US" sz="1700" spc="-20" dirty="0">
                <a:latin typeface="Bookman Old Style" panose="02050604050505020204" pitchFamily="18" charset="0"/>
                <a:ea typeface="Cambria" panose="02040503050406030204" pitchFamily="18" charset="0"/>
                <a:cs typeface="Calibri"/>
              </a:rPr>
              <a:t>2025.</a:t>
            </a:r>
            <a:endParaRPr lang="en-US" sz="1700" dirty="0">
              <a:latin typeface="Bookman Old Style" panose="02050604050505020204" pitchFamily="18" charset="0"/>
              <a:ea typeface="Cambria" panose="02040503050406030204" pitchFamily="18" charset="0"/>
              <a:cs typeface="Calibri"/>
            </a:endParaRPr>
          </a:p>
          <a:p>
            <a:pPr marL="12065" marR="1226185">
              <a:lnSpc>
                <a:spcPts val="3379"/>
              </a:lnSpc>
              <a:tabLst>
                <a:tab pos="330200" algn="l"/>
                <a:tab pos="349885" algn="l"/>
              </a:tabLst>
            </a:pPr>
            <a:r>
              <a:rPr lang="en-US" sz="1700" dirty="0">
                <a:latin typeface="Bookman Old Style" panose="02050604050505020204" pitchFamily="18" charset="0"/>
                <a:ea typeface="Cambria" panose="02040503050406030204" pitchFamily="18" charset="0"/>
                <a:cs typeface="Calibri"/>
              </a:rPr>
              <a:t>  [8]  R.</a:t>
            </a:r>
            <a:r>
              <a:rPr lang="en-US" sz="1700" spc="65" dirty="0">
                <a:latin typeface="Bookman Old Style" panose="02050604050505020204" pitchFamily="18" charset="0"/>
                <a:ea typeface="Cambria" panose="02040503050406030204" pitchFamily="18" charset="0"/>
                <a:cs typeface="Calibri"/>
              </a:rPr>
              <a:t> </a:t>
            </a:r>
            <a:r>
              <a:rPr lang="en-US" sz="1700" dirty="0" err="1">
                <a:latin typeface="Bookman Old Style" panose="02050604050505020204" pitchFamily="18" charset="0"/>
                <a:ea typeface="Cambria" panose="02040503050406030204" pitchFamily="18" charset="0"/>
                <a:cs typeface="Calibri"/>
              </a:rPr>
              <a:t>Adinoval</a:t>
            </a:r>
            <a:r>
              <a:rPr lang="en-US" sz="1700" dirty="0">
                <a:latin typeface="Bookman Old Style" panose="02050604050505020204" pitchFamily="18" charset="0"/>
                <a:ea typeface="Cambria" panose="02040503050406030204" pitchFamily="18" charset="0"/>
                <a:cs typeface="Calibri"/>
              </a:rPr>
              <a:t>,</a:t>
            </a:r>
            <a:r>
              <a:rPr lang="en-US" sz="1700" spc="8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R.</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M.</a:t>
            </a:r>
            <a:r>
              <a:rPr lang="en-US" sz="1700" spc="8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Maharani,</a:t>
            </a:r>
            <a:r>
              <a:rPr lang="en-US" sz="1700" spc="6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and</a:t>
            </a:r>
            <a:r>
              <a:rPr lang="en-US" sz="1700" spc="11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a:t>
            </a:r>
            <a:r>
              <a:rPr lang="en-US" sz="1700" spc="75" dirty="0">
                <a:latin typeface="Bookman Old Style" panose="02050604050505020204" pitchFamily="18" charset="0"/>
                <a:ea typeface="Cambria" panose="02040503050406030204" pitchFamily="18" charset="0"/>
                <a:cs typeface="Calibri"/>
              </a:rPr>
              <a:t> </a:t>
            </a:r>
            <a:r>
              <a:rPr lang="en-US" sz="1700" dirty="0" err="1">
                <a:latin typeface="Bookman Old Style" panose="02050604050505020204" pitchFamily="18" charset="0"/>
                <a:ea typeface="Cambria" panose="02040503050406030204" pitchFamily="18" charset="0"/>
                <a:cs typeface="Calibri"/>
              </a:rPr>
              <a:t>Jazuli</a:t>
            </a:r>
            <a:r>
              <a:rPr lang="en-US" sz="1700" dirty="0">
                <a:latin typeface="Bookman Old Style" panose="02050604050505020204" pitchFamily="18" charset="0"/>
                <a:ea typeface="Cambria" panose="02040503050406030204" pitchFamily="18" charset="0"/>
                <a:cs typeface="Calibri"/>
              </a:rPr>
              <a:t>,</a:t>
            </a:r>
            <a:r>
              <a:rPr lang="en-US" sz="1700" spc="8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"Development</a:t>
            </a:r>
            <a:r>
              <a:rPr lang="en-US" sz="1700" spc="13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of</a:t>
            </a:r>
            <a:r>
              <a:rPr lang="en-US" sz="1700" spc="4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a:t>
            </a:r>
            <a:r>
              <a:rPr lang="en-US" sz="1700" spc="8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Web</a:t>
            </a:r>
            <a:r>
              <a:rPr lang="en-US" sz="1700" spc="7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Base </a:t>
            </a:r>
            <a:r>
              <a:rPr lang="en-US" sz="1700" spc="-10" dirty="0">
                <a:latin typeface="Bookman Old Style" panose="02050604050505020204" pitchFamily="18" charset="0"/>
                <a:ea typeface="Cambria" panose="02040503050406030204" pitchFamily="18" charset="0"/>
                <a:cs typeface="Calibri"/>
              </a:rPr>
              <a:t>Badminton </a:t>
            </a:r>
            <a:r>
              <a:rPr lang="en-US" sz="1700" dirty="0">
                <a:latin typeface="Bookman Old Style" panose="02050604050505020204" pitchFamily="18" charset="0"/>
                <a:ea typeface="Cambria" panose="02040503050406030204" pitchFamily="18" charset="0"/>
                <a:cs typeface="Calibri"/>
              </a:rPr>
              <a:t>Court</a:t>
            </a:r>
            <a:r>
              <a:rPr lang="en-US" sz="1700" spc="100" dirty="0">
                <a:latin typeface="Bookman Old Style" panose="02050604050505020204" pitchFamily="18" charset="0"/>
                <a:ea typeface="Cambria" panose="02040503050406030204" pitchFamily="18" charset="0"/>
                <a:cs typeface="Calibri"/>
              </a:rPr>
              <a:t> </a:t>
            </a:r>
          </a:p>
          <a:p>
            <a:pPr marL="12065" marR="1226185">
              <a:lnSpc>
                <a:spcPts val="3379"/>
              </a:lnSpc>
              <a:tabLst>
                <a:tab pos="330200" algn="l"/>
                <a:tab pos="349885" algn="l"/>
              </a:tabLst>
            </a:pPr>
            <a:r>
              <a:rPr lang="en-US" sz="1700" spc="100" dirty="0">
                <a:latin typeface="Bookman Old Style" panose="02050604050505020204" pitchFamily="18" charset="0"/>
                <a:ea typeface="Cambria" panose="02040503050406030204" pitchFamily="18" charset="0"/>
                <a:cs typeface="Calibri"/>
              </a:rPr>
              <a:t>  Rental </a:t>
            </a:r>
            <a:r>
              <a:rPr lang="en-US" sz="1700" dirty="0">
                <a:latin typeface="Bookman Old Style" panose="02050604050505020204" pitchFamily="18" charset="0"/>
                <a:ea typeface="Cambria" panose="02040503050406030204" pitchFamily="18" charset="0"/>
                <a:cs typeface="Calibri"/>
              </a:rPr>
              <a:t>Information</a:t>
            </a:r>
            <a:r>
              <a:rPr lang="en-US" sz="1700" spc="12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System</a:t>
            </a:r>
            <a:r>
              <a:rPr lang="en-US" sz="1700" spc="13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with</a:t>
            </a:r>
            <a:r>
              <a:rPr lang="en-US" sz="1700" spc="8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the</a:t>
            </a:r>
            <a:r>
              <a:rPr lang="en-US" sz="1700" spc="14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Laravel Framework, "International</a:t>
            </a:r>
            <a:r>
              <a:rPr lang="en-US" sz="1700" spc="10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Journal</a:t>
            </a:r>
            <a:r>
              <a:rPr lang="en-US" sz="1700" spc="80" dirty="0">
                <a:latin typeface="Bookman Old Style" panose="02050604050505020204" pitchFamily="18" charset="0"/>
                <a:ea typeface="Cambria" panose="02040503050406030204" pitchFamily="18" charset="0"/>
                <a:cs typeface="Calibri"/>
              </a:rPr>
              <a:t> </a:t>
            </a:r>
            <a:r>
              <a:rPr lang="en-US" sz="1700" spc="30" dirty="0">
                <a:latin typeface="Bookman Old Style" panose="02050604050505020204" pitchFamily="18" charset="0"/>
                <a:ea typeface="Cambria" panose="02040503050406030204" pitchFamily="18" charset="0"/>
                <a:cs typeface="Calibri"/>
              </a:rPr>
              <a:t>of </a:t>
            </a:r>
            <a:r>
              <a:rPr lang="en-US" sz="1700" dirty="0">
                <a:latin typeface="Bookman Old Style" panose="02050604050505020204" pitchFamily="18" charset="0"/>
                <a:ea typeface="Cambria" panose="02040503050406030204" pitchFamily="18" charset="0"/>
                <a:cs typeface="Calibri"/>
              </a:rPr>
              <a:t>Science</a:t>
            </a:r>
            <a:r>
              <a:rPr lang="en-US" sz="1700" spc="7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and</a:t>
            </a:r>
            <a:r>
              <a:rPr lang="en-US" sz="1700" spc="95" dirty="0">
                <a:latin typeface="Bookman Old Style" panose="02050604050505020204" pitchFamily="18" charset="0"/>
                <a:ea typeface="Cambria" panose="02040503050406030204" pitchFamily="18" charset="0"/>
                <a:cs typeface="Calibri"/>
              </a:rPr>
              <a:t> </a:t>
            </a:r>
          </a:p>
          <a:p>
            <a:pPr marL="12065" marR="1226185">
              <a:lnSpc>
                <a:spcPts val="3379"/>
              </a:lnSpc>
              <a:tabLst>
                <a:tab pos="330200" algn="l"/>
                <a:tab pos="349885" algn="l"/>
              </a:tabLst>
            </a:pPr>
            <a:r>
              <a:rPr lang="en-US" sz="1700" spc="9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Environment</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(IJSE),</a:t>
            </a:r>
            <a:r>
              <a:rPr lang="en-US" sz="1700" spc="10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vol.</a:t>
            </a:r>
            <a:r>
              <a:rPr lang="en-US" sz="1700" spc="6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6,</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no.</a:t>
            </a:r>
            <a:r>
              <a:rPr lang="en-US" sz="1700" spc="6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1,</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Feb.</a:t>
            </a:r>
            <a:r>
              <a:rPr lang="en-US" sz="1700" spc="65" dirty="0">
                <a:latin typeface="Bookman Old Style" panose="02050604050505020204" pitchFamily="18" charset="0"/>
                <a:ea typeface="Cambria" panose="02040503050406030204" pitchFamily="18" charset="0"/>
                <a:cs typeface="Calibri"/>
              </a:rPr>
              <a:t> </a:t>
            </a:r>
            <a:r>
              <a:rPr lang="en-US" sz="1700" spc="-10" dirty="0">
                <a:latin typeface="Bookman Old Style" panose="02050604050505020204" pitchFamily="18" charset="0"/>
                <a:ea typeface="Cambria" panose="02040503050406030204" pitchFamily="18" charset="0"/>
                <a:cs typeface="Calibri"/>
              </a:rPr>
              <a:t>2024.</a:t>
            </a:r>
            <a:endParaRPr lang="en-US" sz="1700" dirty="0">
              <a:latin typeface="Bookman Old Style" panose="02050604050505020204" pitchFamily="18" charset="0"/>
              <a:ea typeface="Cambria" panose="02040503050406030204" pitchFamily="18" charset="0"/>
              <a:cs typeface="Calibri"/>
            </a:endParaRPr>
          </a:p>
          <a:p>
            <a:pPr marL="12065" marR="5080">
              <a:lnSpc>
                <a:spcPts val="3379"/>
              </a:lnSpc>
              <a:tabLst>
                <a:tab pos="330200" algn="l"/>
              </a:tabLst>
            </a:pPr>
            <a:r>
              <a:rPr lang="en-US" sz="1700" dirty="0">
                <a:latin typeface="Bookman Old Style" panose="02050604050505020204" pitchFamily="18" charset="0"/>
                <a:ea typeface="Cambria" panose="02040503050406030204" pitchFamily="18" charset="0"/>
                <a:cs typeface="Calibri"/>
              </a:rPr>
              <a:t>  [9]  S.</a:t>
            </a:r>
            <a:r>
              <a:rPr lang="en-US" sz="1700" spc="6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Ansari,</a:t>
            </a:r>
            <a:r>
              <a:rPr lang="en-US" sz="1700" spc="6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P.</a:t>
            </a:r>
            <a:r>
              <a:rPr lang="en-US" sz="1700" spc="7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Abhang,</a:t>
            </a:r>
            <a:r>
              <a:rPr lang="en-US" sz="1700" spc="6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P.</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Gaikwad,</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V.</a:t>
            </a:r>
            <a:r>
              <a:rPr lang="en-US" sz="1700" spc="80" dirty="0">
                <a:latin typeface="Bookman Old Style" panose="02050604050505020204" pitchFamily="18" charset="0"/>
                <a:ea typeface="Cambria" panose="02040503050406030204" pitchFamily="18" charset="0"/>
                <a:cs typeface="Calibri"/>
              </a:rPr>
              <a:t> </a:t>
            </a:r>
            <a:r>
              <a:rPr lang="en-US" sz="1700" dirty="0" err="1">
                <a:latin typeface="Bookman Old Style" panose="02050604050505020204" pitchFamily="18" charset="0"/>
                <a:ea typeface="Cambria" panose="02040503050406030204" pitchFamily="18" charset="0"/>
                <a:cs typeface="Calibri"/>
              </a:rPr>
              <a:t>Gidhad</a:t>
            </a:r>
            <a:r>
              <a:rPr lang="en-US" sz="1700" dirty="0">
                <a:latin typeface="Bookman Old Style" panose="02050604050505020204" pitchFamily="18" charset="0"/>
                <a:ea typeface="Cambria" panose="02040503050406030204" pitchFamily="18" charset="0"/>
                <a:cs typeface="Calibri"/>
              </a:rPr>
              <a:t>,</a:t>
            </a:r>
            <a:r>
              <a:rPr lang="en-US" sz="1700" spc="8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a:t>
            </a:r>
            <a:r>
              <a:rPr lang="en-US" sz="1700" spc="7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Karad,</a:t>
            </a:r>
            <a:r>
              <a:rPr lang="en-US" sz="1700" spc="7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and</a:t>
            </a:r>
            <a:r>
              <a:rPr lang="en-US" sz="1700" spc="11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a:t>
            </a:r>
            <a:r>
              <a:rPr lang="en-US" sz="1700" spc="7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Sanap,</a:t>
            </a:r>
            <a:r>
              <a:rPr lang="en-US" sz="1700" spc="10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"Online</a:t>
            </a:r>
            <a:r>
              <a:rPr lang="en-US" sz="1700" spc="13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Rentals</a:t>
            </a:r>
            <a:r>
              <a:rPr lang="en-US" sz="1700" spc="60" dirty="0">
                <a:latin typeface="Bookman Old Style" panose="02050604050505020204" pitchFamily="18" charset="0"/>
                <a:ea typeface="Cambria" panose="02040503050406030204" pitchFamily="18" charset="0"/>
                <a:cs typeface="Calibri"/>
              </a:rPr>
              <a:t> </a:t>
            </a:r>
            <a:r>
              <a:rPr lang="en-US" sz="1700" spc="-10" dirty="0">
                <a:latin typeface="Bookman Old Style" panose="02050604050505020204" pitchFamily="18" charset="0"/>
                <a:ea typeface="Cambria" panose="02040503050406030204" pitchFamily="18" charset="0"/>
                <a:cs typeface="Calibri"/>
              </a:rPr>
              <a:t>Things," </a:t>
            </a:r>
          </a:p>
          <a:p>
            <a:pPr marL="12065" marR="5080">
              <a:lnSpc>
                <a:spcPts val="3379"/>
              </a:lnSpc>
              <a:tabLst>
                <a:tab pos="330200" algn="l"/>
              </a:tabLst>
            </a:pPr>
            <a:r>
              <a:rPr lang="en-US" sz="1700" spc="-1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International</a:t>
            </a:r>
            <a:r>
              <a:rPr lang="en-US" sz="1700" spc="13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Journal</a:t>
            </a:r>
            <a:r>
              <a:rPr lang="en-US" sz="1700" spc="9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of</a:t>
            </a:r>
            <a:r>
              <a:rPr lang="en-US" sz="1700" spc="7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Advanced</a:t>
            </a:r>
            <a:r>
              <a:rPr lang="en-US" sz="1700" spc="114"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Research</a:t>
            </a:r>
            <a:r>
              <a:rPr lang="en-US" sz="1700" spc="14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in</a:t>
            </a:r>
            <a:r>
              <a:rPr lang="en-US" sz="1700" spc="9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Science,</a:t>
            </a:r>
            <a:r>
              <a:rPr lang="en-US" sz="1700" spc="9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Communication</a:t>
            </a:r>
            <a:r>
              <a:rPr lang="en-US" sz="1700" spc="114"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and</a:t>
            </a:r>
            <a:r>
              <a:rPr lang="en-US" sz="1700" spc="15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Technology</a:t>
            </a:r>
            <a:r>
              <a:rPr lang="en-US" sz="1700" spc="100" dirty="0">
                <a:latin typeface="Bookman Old Style" panose="02050604050505020204" pitchFamily="18" charset="0"/>
                <a:ea typeface="Cambria" panose="02040503050406030204" pitchFamily="18" charset="0"/>
                <a:cs typeface="Calibri"/>
              </a:rPr>
              <a:t> </a:t>
            </a:r>
            <a:r>
              <a:rPr lang="en-US" sz="1700" spc="-10" dirty="0">
                <a:latin typeface="Bookman Old Style" panose="02050604050505020204" pitchFamily="18" charset="0"/>
                <a:ea typeface="Cambria" panose="02040503050406030204" pitchFamily="18" charset="0"/>
                <a:cs typeface="Calibri"/>
              </a:rPr>
              <a:t>(IJARSCT),  </a:t>
            </a:r>
            <a:r>
              <a:rPr lang="en-US" sz="1700" dirty="0">
                <a:latin typeface="Bookman Old Style" panose="02050604050505020204" pitchFamily="18" charset="0"/>
                <a:ea typeface="Cambria" panose="02040503050406030204" pitchFamily="18" charset="0"/>
                <a:cs typeface="Calibri"/>
              </a:rPr>
              <a:t>vol.</a:t>
            </a:r>
            <a:r>
              <a:rPr lang="en-US" sz="1700" spc="5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3,</a:t>
            </a:r>
            <a:r>
              <a:rPr lang="en-US" sz="1700" spc="60" dirty="0">
                <a:latin typeface="Bookman Old Style" panose="02050604050505020204" pitchFamily="18" charset="0"/>
                <a:ea typeface="Cambria" panose="02040503050406030204" pitchFamily="18" charset="0"/>
                <a:cs typeface="Calibri"/>
              </a:rPr>
              <a:t> </a:t>
            </a:r>
          </a:p>
          <a:p>
            <a:pPr marL="12065" marR="5080">
              <a:lnSpc>
                <a:spcPts val="3379"/>
              </a:lnSpc>
              <a:tabLst>
                <a:tab pos="330200" algn="l"/>
              </a:tabLst>
            </a:pPr>
            <a:r>
              <a:rPr lang="en-US" sz="1700" spc="6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no.</a:t>
            </a:r>
            <a:r>
              <a:rPr lang="en-US" sz="1700" spc="45"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3,</a:t>
            </a:r>
            <a:r>
              <a:rPr lang="en-US" sz="1700" spc="60" dirty="0">
                <a:latin typeface="Bookman Old Style" panose="02050604050505020204" pitchFamily="18" charset="0"/>
                <a:ea typeface="Cambria" panose="02040503050406030204" pitchFamily="18" charset="0"/>
                <a:cs typeface="Calibri"/>
              </a:rPr>
              <a:t> </a:t>
            </a:r>
            <a:r>
              <a:rPr lang="en-US" sz="1700" dirty="0">
                <a:latin typeface="Bookman Old Style" panose="02050604050505020204" pitchFamily="18" charset="0"/>
                <a:ea typeface="Cambria" panose="02040503050406030204" pitchFamily="18" charset="0"/>
                <a:cs typeface="Calibri"/>
              </a:rPr>
              <a:t>Dec.</a:t>
            </a:r>
            <a:r>
              <a:rPr lang="en-US" sz="1700" spc="50" dirty="0">
                <a:latin typeface="Bookman Old Style" panose="02050604050505020204" pitchFamily="18" charset="0"/>
                <a:ea typeface="Cambria" panose="02040503050406030204" pitchFamily="18" charset="0"/>
                <a:cs typeface="Calibri"/>
              </a:rPr>
              <a:t> </a:t>
            </a:r>
            <a:r>
              <a:rPr lang="en-US" sz="1700" spc="-20" dirty="0">
                <a:latin typeface="Bookman Old Style" panose="02050604050505020204" pitchFamily="18" charset="0"/>
                <a:ea typeface="Cambria" panose="02040503050406030204" pitchFamily="18" charset="0"/>
                <a:cs typeface="Calibri"/>
              </a:rPr>
              <a:t>2023.</a:t>
            </a:r>
            <a:endParaRPr lang="en-US" sz="1700" dirty="0">
              <a:latin typeface="Bookman Old Style" panose="02050604050505020204" pitchFamily="18" charset="0"/>
              <a:ea typeface="Cambria" panose="02040503050406030204" pitchFamily="18" charset="0"/>
              <a:cs typeface="Calibri"/>
            </a:endParaRPr>
          </a:p>
          <a:p>
            <a:endParaRPr lang="en-US" sz="1700" dirty="0">
              <a:latin typeface="Bookman Old Style" panose="02050604050505020204" pitchFamily="18" charset="0"/>
              <a:ea typeface="Cambria" panose="02040503050406030204" pitchFamily="18" charset="0"/>
            </a:endParaRPr>
          </a:p>
        </p:txBody>
      </p:sp>
    </p:spTree>
    <p:extLst>
      <p:ext uri="{BB962C8B-B14F-4D97-AF65-F5344CB8AC3E}">
        <p14:creationId xmlns:p14="http://schemas.microsoft.com/office/powerpoint/2010/main" val="2579701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676890" y="2899758"/>
            <a:ext cx="3451225" cy="452120"/>
          </a:xfrm>
          <a:prstGeom prst="rect">
            <a:avLst/>
          </a:prstGeom>
        </p:spPr>
        <p:txBody>
          <a:bodyPr vert="horz" wrap="square" lIns="0" tIns="12700" rIns="0" bIns="0" rtlCol="0">
            <a:spAutoFit/>
          </a:bodyPr>
          <a:lstStyle/>
          <a:p>
            <a:pPr marL="12700">
              <a:lnSpc>
                <a:spcPct val="100000"/>
              </a:lnSpc>
              <a:spcBef>
                <a:spcPts val="100"/>
              </a:spcBef>
            </a:pPr>
            <a:r>
              <a:rPr spc="175" dirty="0"/>
              <a:t>Thank</a:t>
            </a:r>
            <a:r>
              <a:rPr spc="340" dirty="0"/>
              <a:t> </a:t>
            </a:r>
            <a:r>
              <a:rPr spc="175" dirty="0"/>
              <a:t>You</a:t>
            </a:r>
            <a:r>
              <a:rPr spc="340" dirty="0"/>
              <a:t> </a:t>
            </a:r>
            <a:r>
              <a:rPr spc="480" dirty="0"/>
              <a:t>………..</a:t>
            </a:r>
          </a:p>
        </p:txBody>
      </p:sp>
      <p:sp>
        <p:nvSpPr>
          <p:cNvPr id="3" name="object 3"/>
          <p:cNvSpPr txBox="1">
            <a:spLocks noGrp="1"/>
          </p:cNvSpPr>
          <p:nvPr>
            <p:ph type="ftr" sz="quarter" idx="5"/>
          </p:nvPr>
        </p:nvSpPr>
        <p:spPr>
          <a:prstGeom prst="rect">
            <a:avLst/>
          </a:prstGeom>
        </p:spPr>
        <p:txBody>
          <a:bodyPr vert="horz" wrap="square" lIns="0" tIns="1905" rIns="0" bIns="0" rtlCol="0">
            <a:spAutoFit/>
          </a:bodyPr>
          <a:lstStyle/>
          <a:p>
            <a:pPr marL="12700">
              <a:lnSpc>
                <a:spcPct val="100000"/>
              </a:lnSpc>
              <a:spcBef>
                <a:spcPts val="15"/>
              </a:spcBef>
            </a:pPr>
            <a:r>
              <a:rPr dirty="0"/>
              <a:t>©</a:t>
            </a:r>
            <a:r>
              <a:rPr spc="95" dirty="0"/>
              <a:t> </a:t>
            </a:r>
            <a:r>
              <a:rPr spc="100" dirty="0"/>
              <a:t>BVRIT</a:t>
            </a:r>
            <a:r>
              <a:rPr spc="95" dirty="0"/>
              <a:t> </a:t>
            </a:r>
            <a:r>
              <a:rPr spc="175" dirty="0"/>
              <a:t>CSE</a:t>
            </a:r>
          </a:p>
        </p:txBody>
      </p:sp>
      <p:sp>
        <p:nvSpPr>
          <p:cNvPr id="4" name="object 4"/>
          <p:cNvSpPr txBox="1">
            <a:spLocks noGrp="1"/>
          </p:cNvSpPr>
          <p:nvPr>
            <p:ph type="sldNum" sz="quarter" idx="7"/>
          </p:nvPr>
        </p:nvSpPr>
        <p:spPr>
          <a:prstGeom prst="rect">
            <a:avLst/>
          </a:prstGeom>
        </p:spPr>
        <p:txBody>
          <a:bodyPr vert="horz" wrap="square" lIns="0" tIns="1905" rIns="0" bIns="0" rtlCol="0">
            <a:spAutoFit/>
          </a:bodyPr>
          <a:lstStyle/>
          <a:p>
            <a:pPr marL="38100">
              <a:lnSpc>
                <a:spcPct val="100000"/>
              </a:lnSpc>
              <a:spcBef>
                <a:spcPts val="15"/>
              </a:spcBef>
            </a:pPr>
            <a:fld id="{81D60167-4931-47E6-BA6A-407CBD079E47}" type="slidenum">
              <a:rPr spc="70" dirty="0"/>
              <a:t>32</a:t>
            </a:fld>
            <a:endParaRPr spc="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590</TotalTime>
  <Words>1657</Words>
  <Application>Microsoft Office PowerPoint</Application>
  <PresentationFormat>Widescreen</PresentationFormat>
  <Paragraphs>341</Paragraphs>
  <Slides>32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Arial</vt:lpstr>
      <vt:lpstr>Bookman Old Style</vt:lpstr>
      <vt:lpstr>Calibri</vt:lpstr>
      <vt:lpstr>Cambria</vt:lpstr>
      <vt:lpstr>Office Theme</vt:lpstr>
      <vt:lpstr>B V RAJU INSTITUTE OF TECHNOLOGY</vt:lpstr>
      <vt:lpstr>Outline</vt:lpstr>
      <vt:lpstr>Abstract</vt:lpstr>
      <vt:lpstr>Introduction</vt:lpstr>
      <vt:lpstr>PowerPoint Presentation</vt:lpstr>
      <vt:lpstr>Existing system</vt:lpstr>
      <vt:lpstr>Problem Statement &amp; Objectives</vt:lpstr>
      <vt:lpstr>Proposed List of Modules</vt:lpstr>
      <vt:lpstr>Proposed Architecture diagram </vt:lpstr>
      <vt:lpstr>Proposed Algorithm Explanation</vt:lpstr>
      <vt:lpstr>Proposed Algorithm Explanation</vt:lpstr>
      <vt:lpstr>UML Diagram (Use Case Diagram)</vt:lpstr>
      <vt:lpstr>UML Diagram (Activity Diagram)</vt:lpstr>
      <vt:lpstr>UML Diagram (Sequence Diagram)</vt:lpstr>
      <vt:lpstr>UML Diagram (Class Diagram)</vt:lpstr>
      <vt:lpstr>Proposed Flow diagram </vt:lpstr>
      <vt:lpstr>Results and Discussions</vt:lpstr>
      <vt:lpstr>Results and Discussions</vt:lpstr>
      <vt:lpstr>Results and Discussions</vt:lpstr>
      <vt:lpstr>Results and Discussions</vt:lpstr>
      <vt:lpstr>Results and Discussions</vt:lpstr>
      <vt:lpstr>Results and Discussions</vt:lpstr>
      <vt:lpstr>Results and Discussions</vt:lpstr>
      <vt:lpstr>Results and Discussions</vt:lpstr>
      <vt:lpstr>Results and Discussions</vt:lpstr>
      <vt:lpstr>Results and Discussions</vt:lpstr>
      <vt:lpstr>Results and Discussions</vt:lpstr>
      <vt:lpstr>Results and Discussions</vt:lpstr>
      <vt:lpstr>Conclusion and Future Enhancement</vt:lpstr>
      <vt:lpstr>References</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review ppt template.pptx</dc:title>
  <dc:creator>Sai ..</dc:creator>
  <cp:lastModifiedBy>Sai ..</cp:lastModifiedBy>
  <cp:revision>20</cp:revision>
  <dcterms:created xsi:type="dcterms:W3CDTF">2026-03-26T03:39:32Z</dcterms:created>
  <dcterms:modified xsi:type="dcterms:W3CDTF">2026-05-12T02:50:55Z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2026-03-26T00:00:00Z</vt:filetime>
  </property>
  <property fmtid="{D5CDD505-2E9C-101B-9397-08002B2CF9AE}" pid="3" name="Creator">
    <vt:lpwstr>Google</vt:lpwstr>
  </property>
  <property fmtid="{D5CDD505-2E9C-101B-9397-08002B2CF9AE}" pid="4" name="LastSaved">
    <vt:filetime>2026-03-26T00:00:00Z</vt:filetime>
  </property>
</Properties>
</file>